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640080"/>
            <a:ext cx="822960" cy="82296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786384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59436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Workpace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1463040" y="138988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78BFA"/>
                </a:solidFill>
              </a:rPr>
              <a:t>WPF 기반 개인 프로젝트 완주 + 포트폴리오 자동 생성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993392"/>
            <a:ext cx="4389120" cy="594360"/>
          </a:xfrm>
          <a:prstGeom prst="rect">
            <a:avLst/>
          </a:prstGeom>
          <a:solidFill>
            <a:srgbClr val="2D2A5E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1993392"/>
            <a:ext cx="54864" cy="5943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04825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01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24128" y="204825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프로젝트 템플릿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24128" y="232257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78BFA"/>
                </a:solidFill>
              </a:rPr>
              <a:t>유형별 구조 자동 생성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57200" y="2724912"/>
            <a:ext cx="4389120" cy="594360"/>
          </a:xfrm>
          <a:prstGeom prst="rect">
            <a:avLst/>
          </a:prstGeom>
          <a:solidFill>
            <a:srgbClr val="2D2A5E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200" y="2724912"/>
            <a:ext cx="54864" cy="5943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2"/>
          <p:cNvSpPr/>
          <p:nvPr/>
        </p:nvSpPr>
        <p:spPr>
          <a:xfrm>
            <a:off x="594360" y="277977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02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024128" y="27797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페이스 경고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24128" y="305409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78BFA"/>
                </a:solidFill>
              </a:rPr>
              <a:t>심리 기반 완주 유도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57200" y="3456432"/>
            <a:ext cx="4389120" cy="594360"/>
          </a:xfrm>
          <a:prstGeom prst="rect">
            <a:avLst/>
          </a:prstGeom>
          <a:solidFill>
            <a:srgbClr val="2D2A5E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57200" y="3456432"/>
            <a:ext cx="54864" cy="5943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7"/>
          <p:cNvSpPr/>
          <p:nvPr/>
        </p:nvSpPr>
        <p:spPr>
          <a:xfrm>
            <a:off x="594360" y="351129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03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024128" y="35112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스코프 잠금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024128" y="378561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78BFA"/>
                </a:solidFill>
              </a:rPr>
              <a:t>범위 확장 대가 시각화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57200" y="4187952"/>
            <a:ext cx="4389120" cy="594360"/>
          </a:xfrm>
          <a:prstGeom prst="rect">
            <a:avLst/>
          </a:prstGeom>
          <a:solidFill>
            <a:srgbClr val="2D2A5E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57200" y="4187952"/>
            <a:ext cx="54864" cy="5943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Text 22"/>
          <p:cNvSpPr/>
          <p:nvPr/>
        </p:nvSpPr>
        <p:spPr>
          <a:xfrm>
            <a:off x="594360" y="424281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04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024128" y="42428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포트폴리오 추출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024128" y="451713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78BFA"/>
                </a:solidFill>
              </a:rPr>
              <a:t>버튼 하나로 자동 완성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5303520" y="64008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프로젝트를 시작부터</a:t>
            </a:r>
            <a:endParaRPr lang="en-US" sz="2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포트폴리오까지</a:t>
            </a:r>
            <a:endParaRPr lang="en-US" sz="2400" dirty="0"/>
          </a:p>
        </p:txBody>
      </p:sp>
      <p:sp>
        <p:nvSpPr>
          <p:cNvPr id="29" name="Text 26"/>
          <p:cNvSpPr/>
          <p:nvPr/>
        </p:nvSpPr>
        <p:spPr>
          <a:xfrm>
            <a:off x="5303520" y="1783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C3AED"/>
                </a:solidFill>
              </a:rPr>
              <a:t>혼자서도 끝까지 완주하도록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5303520" y="2286000"/>
            <a:ext cx="3566160" cy="36576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31" name="Shape 28"/>
          <p:cNvSpPr/>
          <p:nvPr/>
        </p:nvSpPr>
        <p:spPr>
          <a:xfrm>
            <a:off x="5303520" y="2523744"/>
            <a:ext cx="347472" cy="347472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2" y="2569464"/>
            <a:ext cx="219456" cy="219456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5760720" y="25603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템플릿 시스템으로 시작의 막막함 해결</a:t>
            </a:r>
            <a:endParaRPr lang="en-US" sz="1200" dirty="0"/>
          </a:p>
        </p:txBody>
      </p:sp>
      <p:sp>
        <p:nvSpPr>
          <p:cNvPr id="34" name="Shape 30"/>
          <p:cNvSpPr/>
          <p:nvPr/>
        </p:nvSpPr>
        <p:spPr>
          <a:xfrm>
            <a:off x="5303520" y="3182112"/>
            <a:ext cx="347472" cy="347472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6672" y="3227832"/>
            <a:ext cx="219456" cy="219456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5760720" y="321868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페이스 경고로 마감 준수율 향상</a:t>
            </a:r>
            <a:endParaRPr lang="en-US" sz="1200" dirty="0"/>
          </a:p>
        </p:txBody>
      </p:sp>
      <p:sp>
        <p:nvSpPr>
          <p:cNvPr id="37" name="Shape 32"/>
          <p:cNvSpPr/>
          <p:nvPr/>
        </p:nvSpPr>
        <p:spPr>
          <a:xfrm>
            <a:off x="5303520" y="3840480"/>
            <a:ext cx="347472" cy="347472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6672" y="3886200"/>
            <a:ext cx="219456" cy="219456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5760720" y="387705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포트폴리오 자동 생성으로 취업 준비</a:t>
            </a:r>
            <a:endParaRPr lang="en-US" sz="1200" dirty="0"/>
          </a:p>
        </p:txBody>
      </p:sp>
      <p:sp>
        <p:nvSpPr>
          <p:cNvPr id="40" name="Text 34"/>
          <p:cNvSpPr/>
          <p:nvPr/>
        </p:nvSpPr>
        <p:spPr>
          <a:xfrm>
            <a:off x="5303520" y="4663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C# / WPF  ·  중간고사 프로젝트 기획 발표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1B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목  차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2920" y="1005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Workpace 프로젝트 기획 발표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4069080" cy="713232"/>
          </a:xfrm>
          <a:prstGeom prst="rect">
            <a:avLst/>
          </a:prstGeom>
          <a:solidFill>
            <a:srgbClr val="F8F7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463040"/>
            <a:ext cx="54864" cy="7132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1591056"/>
            <a:ext cx="347472" cy="347472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67512" y="15910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24712" y="155448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1B4B"/>
                </a:solidFill>
              </a:rPr>
              <a:t>과제 개요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24712" y="1847088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프로젝트 소개 및 앱 정체성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1463040"/>
            <a:ext cx="4069080" cy="713232"/>
          </a:xfrm>
          <a:prstGeom prst="rect">
            <a:avLst/>
          </a:prstGeom>
          <a:solidFill>
            <a:srgbClr val="F8F7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463040"/>
            <a:ext cx="54864" cy="7132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Shape 10"/>
          <p:cNvSpPr/>
          <p:nvPr/>
        </p:nvSpPr>
        <p:spPr>
          <a:xfrm>
            <a:off x="4965192" y="1591056"/>
            <a:ext cx="347472" cy="347472"/>
          </a:xfrm>
          <a:prstGeom prst="ellipse">
            <a:avLst/>
          </a:prstGeom>
          <a:solidFill>
            <a:srgbClr val="EF4444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965192" y="15910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22392" y="155448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1B4B"/>
                </a:solidFill>
              </a:rPr>
              <a:t>추진 배경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22392" y="1847088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혼자 하는 프로젝트의 5가지 문제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377440"/>
            <a:ext cx="4069080" cy="713232"/>
          </a:xfrm>
          <a:prstGeom prst="rect">
            <a:avLst/>
          </a:prstGeom>
          <a:solidFill>
            <a:srgbClr val="F8F7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2377440"/>
            <a:ext cx="54864" cy="7132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Shape 16"/>
          <p:cNvSpPr/>
          <p:nvPr/>
        </p:nvSpPr>
        <p:spPr>
          <a:xfrm>
            <a:off x="667512" y="2505456"/>
            <a:ext cx="347472" cy="347472"/>
          </a:xfrm>
          <a:prstGeom prst="ellipse">
            <a:avLst/>
          </a:prstGeom>
          <a:solidFill>
            <a:srgbClr val="F59E0B">
              <a:alpha val="1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" y="25054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24712" y="246888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1B4B"/>
                </a:solidFill>
              </a:rPr>
              <a:t>개발 목표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24712" y="2761488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주요 목표 및 세부 기능 목표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00600" y="2377440"/>
            <a:ext cx="4069080" cy="713232"/>
          </a:xfrm>
          <a:prstGeom prst="rect">
            <a:avLst/>
          </a:prstGeom>
          <a:solidFill>
            <a:srgbClr val="F8F7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00600" y="2377440"/>
            <a:ext cx="54864" cy="7132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Shape 22"/>
          <p:cNvSpPr/>
          <p:nvPr/>
        </p:nvSpPr>
        <p:spPr>
          <a:xfrm>
            <a:off x="4965192" y="2505456"/>
            <a:ext cx="347472" cy="347472"/>
          </a:xfrm>
          <a:prstGeom prst="ellipse">
            <a:avLst/>
          </a:prstGeom>
          <a:solidFill>
            <a:srgbClr val="10B981">
              <a:alpha val="1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965192" y="25054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04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22392" y="246888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1B4B"/>
                </a:solidFill>
              </a:rPr>
              <a:t>개발 내용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22392" y="2761488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5가지 핵심 기능 및 UI 화면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3291840"/>
            <a:ext cx="4069080" cy="713232"/>
          </a:xfrm>
          <a:prstGeom prst="rect">
            <a:avLst/>
          </a:prstGeom>
          <a:solidFill>
            <a:srgbClr val="F8F7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02920" y="3291840"/>
            <a:ext cx="54864" cy="71323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0" name="Shape 28"/>
          <p:cNvSpPr/>
          <p:nvPr/>
        </p:nvSpPr>
        <p:spPr>
          <a:xfrm>
            <a:off x="667512" y="3419856"/>
            <a:ext cx="347472" cy="347472"/>
          </a:xfrm>
          <a:prstGeom prst="ellipse">
            <a:avLst/>
          </a:prstGeom>
          <a:solidFill>
            <a:srgbClr val="0EA5E9">
              <a:alpha val="1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67512" y="34198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E9"/>
                </a:solidFill>
              </a:rPr>
              <a:t>05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24712" y="338328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1B4B"/>
                </a:solidFill>
              </a:rPr>
              <a:t>기대 효과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124712" y="3675888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사용자 및 기술적 기대 효과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00600" y="3291840"/>
            <a:ext cx="4069080" cy="713232"/>
          </a:xfrm>
          <a:prstGeom prst="rect">
            <a:avLst/>
          </a:prstGeom>
          <a:solidFill>
            <a:srgbClr val="F8F7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00600" y="3291840"/>
            <a:ext cx="54864" cy="7132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6" name="Shape 34"/>
          <p:cNvSpPr/>
          <p:nvPr/>
        </p:nvSpPr>
        <p:spPr>
          <a:xfrm>
            <a:off x="4965192" y="3419856"/>
            <a:ext cx="347472" cy="347472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4965192" y="34198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06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422392" y="338328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1B4B"/>
                </a:solidFill>
              </a:rPr>
              <a:t>추진 계획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422392" y="3675888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8주차 개발 일정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02920" y="4206240"/>
            <a:ext cx="8229600" cy="713232"/>
          </a:xfrm>
          <a:prstGeom prst="rect">
            <a:avLst/>
          </a:prstGeom>
          <a:solidFill>
            <a:srgbClr val="F8F7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02920" y="4206240"/>
            <a:ext cx="54864" cy="713232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42" name="Shape 40"/>
          <p:cNvSpPr/>
          <p:nvPr/>
        </p:nvSpPr>
        <p:spPr>
          <a:xfrm>
            <a:off x="667512" y="4334256"/>
            <a:ext cx="347472" cy="347472"/>
          </a:xfrm>
          <a:prstGeom prst="ellipse">
            <a:avLst/>
          </a:prstGeom>
          <a:solidFill>
            <a:srgbClr val="6B7280">
              <a:alpha val="15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667512" y="43342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</a:rPr>
              <a:t>07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124712" y="429768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1B4B"/>
                </a:solidFill>
              </a:rPr>
              <a:t>참고 자료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1124712" y="4590288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기술 문서 및 출처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10515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914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28600" y="43891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과제 개요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0" y="54864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프로젝트를 시작부터 포트폴리오까지, 혼자서도 완주하도록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207008"/>
            <a:ext cx="4937760" cy="2084832"/>
          </a:xfrm>
          <a:prstGeom prst="rect">
            <a:avLst/>
          </a:prstGeom>
          <a:solidFill>
            <a:srgbClr val="F8F7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3533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프로젝트 소개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719072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74151"/>
                </a:solidFill>
              </a:rPr>
              <a:t>Workpace는 혼자 프로젝트를 진행하는 사람이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74151"/>
                </a:solidFill>
              </a:rPr>
              <a:t>끝까지 완주하도록 페이스를 잡아주고,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74151"/>
                </a:solidFill>
              </a:rPr>
              <a:t>완료 시 포트폴리오까지 자동 생성되는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74151"/>
                </a:solidFill>
              </a:rPr>
              <a:t>WPF 기반 데스크톱 앱입니다.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3401568"/>
            <a:ext cx="4937760" cy="566928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401568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7C3AED"/>
                </a:solidFill>
              </a:rPr>
              <a:t>"앱을 쓰는 것 자체가 기록이 된다. 따로 정리하지 않아도 포트폴리오가 완성된다."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532120" y="1207008"/>
            <a:ext cx="1051560" cy="1691640"/>
          </a:xfrm>
          <a:prstGeom prst="rect">
            <a:avLst/>
          </a:prstGeom>
          <a:solidFill>
            <a:srgbClr val="F8F7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532120" y="1207008"/>
            <a:ext cx="1051560" cy="502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" name="Shape 12"/>
          <p:cNvSpPr/>
          <p:nvPr/>
        </p:nvSpPr>
        <p:spPr>
          <a:xfrm>
            <a:off x="5833872" y="1261872"/>
            <a:ext cx="438912" cy="438912"/>
          </a:xfrm>
          <a:prstGeom prst="ellipse">
            <a:avLst/>
          </a:prstGeom>
          <a:solidFill>
            <a:srgbClr val="FFFFFF">
              <a:alpha val="75000"/>
            </a:srgbClr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1280160"/>
            <a:ext cx="393192" cy="393192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532120" y="175564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1B4B"/>
                </a:solidFill>
              </a:rPr>
              <a:t>페이스 경고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577840" y="2084832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</a:rPr>
              <a:t>진행률 vs 목표 자동 비교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702552" y="1207008"/>
            <a:ext cx="1051560" cy="1691640"/>
          </a:xfrm>
          <a:prstGeom prst="rect">
            <a:avLst/>
          </a:prstGeom>
          <a:solidFill>
            <a:srgbClr val="F8F7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702552" y="1207008"/>
            <a:ext cx="105156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Shape 17"/>
          <p:cNvSpPr/>
          <p:nvPr/>
        </p:nvSpPr>
        <p:spPr>
          <a:xfrm>
            <a:off x="7004304" y="1261872"/>
            <a:ext cx="438912" cy="438912"/>
          </a:xfrm>
          <a:prstGeom prst="ellipse">
            <a:avLst/>
          </a:prstGeom>
          <a:solidFill>
            <a:srgbClr val="FFFFFF">
              <a:alpha val="75000"/>
            </a:srgbClr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2" y="1280160"/>
            <a:ext cx="393192" cy="39319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702552" y="175564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1B4B"/>
                </a:solidFill>
              </a:rPr>
              <a:t>스코프 잠금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6748272" y="2084832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</a:rPr>
              <a:t>범위 확장 대가 시각화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7872984" y="1207008"/>
            <a:ext cx="1051560" cy="1691640"/>
          </a:xfrm>
          <a:prstGeom prst="rect">
            <a:avLst/>
          </a:prstGeom>
          <a:solidFill>
            <a:srgbClr val="F8F7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7872984" y="1207008"/>
            <a:ext cx="1051560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Shape 22"/>
          <p:cNvSpPr/>
          <p:nvPr/>
        </p:nvSpPr>
        <p:spPr>
          <a:xfrm>
            <a:off x="8174736" y="1261872"/>
            <a:ext cx="438912" cy="438912"/>
          </a:xfrm>
          <a:prstGeom prst="ellipse">
            <a:avLst/>
          </a:prstGeom>
          <a:solidFill>
            <a:srgbClr val="FFFFFF">
              <a:alpha val="75000"/>
            </a:srgbClr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3024" y="1280160"/>
            <a:ext cx="393192" cy="393192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7872984" y="175564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1B4B"/>
                </a:solidFill>
              </a:rPr>
              <a:t>포트폴리오 추출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7918704" y="2084832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</a:rPr>
              <a:t>버튼 하나로 자동 생성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5532120" y="3017520"/>
            <a:ext cx="3200400" cy="1572768"/>
          </a:xfrm>
          <a:prstGeom prst="rect">
            <a:avLst/>
          </a:prstGeom>
          <a:solidFill>
            <a:srgbClr val="F8F7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31" name="Text 26"/>
          <p:cNvSpPr/>
          <p:nvPr/>
        </p:nvSpPr>
        <p:spPr>
          <a:xfrm>
            <a:off x="5669280" y="31272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개발 환경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5669280" y="34930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언어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6858000" y="34930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B4B"/>
                </a:solidFill>
              </a:rPr>
              <a:t>C#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5669280" y="37490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프레임워크</a:t>
            </a:r>
            <a:endParaRPr lang="en-US" sz="1100" dirty="0"/>
          </a:p>
        </p:txBody>
      </p:sp>
      <p:sp>
        <p:nvSpPr>
          <p:cNvPr id="35" name="Text 30"/>
          <p:cNvSpPr/>
          <p:nvPr/>
        </p:nvSpPr>
        <p:spPr>
          <a:xfrm>
            <a:off x="6858000" y="3749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B4B"/>
                </a:solidFill>
              </a:rPr>
              <a:t>WPF (.NET)</a:t>
            </a:r>
            <a:endParaRPr lang="en-US" sz="1100" dirty="0"/>
          </a:p>
        </p:txBody>
      </p:sp>
      <p:sp>
        <p:nvSpPr>
          <p:cNvPr id="36" name="Text 31"/>
          <p:cNvSpPr/>
          <p:nvPr/>
        </p:nvSpPr>
        <p:spPr>
          <a:xfrm>
            <a:off x="5669280" y="400507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DB</a:t>
            </a:r>
            <a:endParaRPr lang="en-US" sz="1100" dirty="0"/>
          </a:p>
        </p:txBody>
      </p:sp>
      <p:sp>
        <p:nvSpPr>
          <p:cNvPr id="37" name="Text 32"/>
          <p:cNvSpPr/>
          <p:nvPr/>
        </p:nvSpPr>
        <p:spPr>
          <a:xfrm>
            <a:off x="6858000" y="40050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B4B"/>
                </a:solidFill>
              </a:rPr>
              <a:t>SQLite</a:t>
            </a:r>
            <a:endParaRPr lang="en-US" sz="1100" dirty="0"/>
          </a:p>
        </p:txBody>
      </p:sp>
      <p:sp>
        <p:nvSpPr>
          <p:cNvPr id="38" name="Text 33"/>
          <p:cNvSpPr/>
          <p:nvPr/>
        </p:nvSpPr>
        <p:spPr>
          <a:xfrm>
            <a:off x="5669280" y="426110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아키텍처</a:t>
            </a:r>
            <a:endParaRPr lang="en-US" sz="1100" dirty="0"/>
          </a:p>
        </p:txBody>
      </p:sp>
      <p:sp>
        <p:nvSpPr>
          <p:cNvPr id="39" name="Text 34"/>
          <p:cNvSpPr/>
          <p:nvPr/>
        </p:nvSpPr>
        <p:spPr>
          <a:xfrm>
            <a:off x="6858000" y="426110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B4B"/>
                </a:solidFill>
              </a:rPr>
              <a:t>MVVM Pattern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10515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914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02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28600" y="43891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추진 배경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0" y="5943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혼자 하는 프로젝트, 왜 완성이 어려울까?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1508760" cy="3154680"/>
          </a:xfrm>
          <a:prstGeom prst="rect">
            <a:avLst/>
          </a:prstGeom>
          <a:solidFill>
            <a:srgbClr val="F8F7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188720"/>
            <a:ext cx="1508760" cy="7132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Shape 7"/>
          <p:cNvSpPr/>
          <p:nvPr/>
        </p:nvSpPr>
        <p:spPr>
          <a:xfrm>
            <a:off x="850392" y="1252728"/>
            <a:ext cx="457200" cy="457200"/>
          </a:xfrm>
          <a:prstGeom prst="ellipse">
            <a:avLst/>
          </a:prstGeom>
          <a:solidFill>
            <a:srgbClr val="FFFFFF">
              <a:alpha val="75000"/>
            </a:srgbClr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271016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193852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B4B"/>
                </a:solidFill>
              </a:rPr>
              <a:t>데드라인 착시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11480" y="2304288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74151"/>
                </a:solidFill>
              </a:rPr>
              <a:t>마감이 멀게 느껴져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74151"/>
                </a:solidFill>
              </a:rPr>
              <a:t>초기 계획을 느슨하게 잡음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039112" y="1188720"/>
            <a:ext cx="1508760" cy="3154680"/>
          </a:xfrm>
          <a:prstGeom prst="rect">
            <a:avLst/>
          </a:prstGeom>
          <a:solidFill>
            <a:srgbClr val="F8F7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039112" y="1188720"/>
            <a:ext cx="1508760" cy="7132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Shape 12"/>
          <p:cNvSpPr/>
          <p:nvPr/>
        </p:nvSpPr>
        <p:spPr>
          <a:xfrm>
            <a:off x="2569464" y="1252728"/>
            <a:ext cx="457200" cy="457200"/>
          </a:xfrm>
          <a:prstGeom prst="ellipse">
            <a:avLst/>
          </a:prstGeom>
          <a:solidFill>
            <a:srgbClr val="FFFFFF">
              <a:alpha val="75000"/>
            </a:srgbClr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7752" y="1271016"/>
            <a:ext cx="411480" cy="4114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039112" y="193852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B4B"/>
                </a:solidFill>
              </a:rPr>
              <a:t>범위 통제 실패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2130552" y="2304288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74151"/>
                </a:solidFill>
              </a:rPr>
              <a:t>기능 추가하다가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74151"/>
                </a:solidFill>
              </a:rPr>
              <a:t>마감일을 넘기는 경험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3758184" y="1188720"/>
            <a:ext cx="1508760" cy="3154680"/>
          </a:xfrm>
          <a:prstGeom prst="rect">
            <a:avLst/>
          </a:prstGeom>
          <a:solidFill>
            <a:srgbClr val="F8F7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758184" y="1188720"/>
            <a:ext cx="1508760" cy="7132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Shape 17"/>
          <p:cNvSpPr/>
          <p:nvPr/>
        </p:nvSpPr>
        <p:spPr>
          <a:xfrm>
            <a:off x="4288536" y="1252728"/>
            <a:ext cx="457200" cy="457200"/>
          </a:xfrm>
          <a:prstGeom prst="ellipse">
            <a:avLst/>
          </a:prstGeom>
          <a:solidFill>
            <a:srgbClr val="FFFFFF">
              <a:alpha val="75000"/>
            </a:srgbClr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6824" y="1271016"/>
            <a:ext cx="411480" cy="41148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758184" y="193852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B4B"/>
                </a:solidFill>
              </a:rPr>
              <a:t>동기부여 저하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3849624" y="2304288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74151"/>
                </a:solidFill>
              </a:rPr>
              <a:t>혼자라 오늘 안 해도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74151"/>
                </a:solidFill>
              </a:rPr>
              <a:t>된다는 안일함 발생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5477256" y="1188720"/>
            <a:ext cx="1508760" cy="3154680"/>
          </a:xfrm>
          <a:prstGeom prst="rect">
            <a:avLst/>
          </a:prstGeom>
          <a:solidFill>
            <a:srgbClr val="F8F7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5477256" y="1188720"/>
            <a:ext cx="1508760" cy="71323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7" name="Shape 22"/>
          <p:cNvSpPr/>
          <p:nvPr/>
        </p:nvSpPr>
        <p:spPr>
          <a:xfrm>
            <a:off x="6007608" y="1252728"/>
            <a:ext cx="457200" cy="457200"/>
          </a:xfrm>
          <a:prstGeom prst="ellipse">
            <a:avLst/>
          </a:prstGeom>
          <a:solidFill>
            <a:srgbClr val="FFFFFF">
              <a:alpha val="75000"/>
            </a:srgbClr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5896" y="1271016"/>
            <a:ext cx="411480" cy="41148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477256" y="193852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B4B"/>
                </a:solidFill>
              </a:rPr>
              <a:t>방향성 상실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5568696" y="2304288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74151"/>
                </a:solidFill>
              </a:rPr>
              <a:t>프로젝트 중간에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74151"/>
                </a:solidFill>
              </a:rPr>
              <a:t>산으로 가는 경험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7196328" y="1188720"/>
            <a:ext cx="1508760" cy="3154680"/>
          </a:xfrm>
          <a:prstGeom prst="rect">
            <a:avLst/>
          </a:prstGeom>
          <a:solidFill>
            <a:srgbClr val="F8F7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7196328" y="1188720"/>
            <a:ext cx="1508760" cy="7132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3" name="Shape 27"/>
          <p:cNvSpPr/>
          <p:nvPr/>
        </p:nvSpPr>
        <p:spPr>
          <a:xfrm>
            <a:off x="7726680" y="1252728"/>
            <a:ext cx="457200" cy="457200"/>
          </a:xfrm>
          <a:prstGeom prst="ellipse">
            <a:avLst/>
          </a:prstGeom>
          <a:solidFill>
            <a:srgbClr val="FFFFFF">
              <a:alpha val="75000"/>
            </a:srgbClr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4968" y="1271016"/>
            <a:ext cx="411480" cy="41148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196328" y="193852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B4B"/>
                </a:solidFill>
              </a:rPr>
              <a:t>포트폴리오 누락</a:t>
            </a:r>
            <a:endParaRPr lang="en-US" sz="1150" dirty="0"/>
          </a:p>
        </p:txBody>
      </p:sp>
      <p:sp>
        <p:nvSpPr>
          <p:cNvPr id="36" name="Text 29"/>
          <p:cNvSpPr/>
          <p:nvPr/>
        </p:nvSpPr>
        <p:spPr>
          <a:xfrm>
            <a:off x="7287768" y="2304288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74151"/>
                </a:solidFill>
              </a:rPr>
              <a:t>기껏 완성해도 기록이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74151"/>
                </a:solidFill>
              </a:rPr>
              <a:t>없어서 정리가 힘듦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320040" y="4480560"/>
            <a:ext cx="4160520" cy="475488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38" name="Shape 31"/>
          <p:cNvSpPr/>
          <p:nvPr/>
        </p:nvSpPr>
        <p:spPr>
          <a:xfrm>
            <a:off x="320040" y="4480560"/>
            <a:ext cx="54864" cy="47548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9" name="Text 32"/>
          <p:cNvSpPr/>
          <p:nvPr/>
        </p:nvSpPr>
        <p:spPr>
          <a:xfrm>
            <a:off x="457200" y="448056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91B1B"/>
                </a:solidFill>
              </a:rPr>
              <a:t>❌  기존 툴 (Notion/Trello) — 관리 기능은 있으나 완주를 도와주지 않음</a:t>
            </a:r>
            <a:endParaRPr lang="en-US" sz="1100" dirty="0"/>
          </a:p>
        </p:txBody>
      </p:sp>
      <p:sp>
        <p:nvSpPr>
          <p:cNvPr id="40" name="Shape 33"/>
          <p:cNvSpPr/>
          <p:nvPr/>
        </p:nvSpPr>
        <p:spPr>
          <a:xfrm>
            <a:off x="4663440" y="4480560"/>
            <a:ext cx="4160520" cy="475488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41" name="Shape 34"/>
          <p:cNvSpPr/>
          <p:nvPr/>
        </p:nvSpPr>
        <p:spPr>
          <a:xfrm>
            <a:off x="4663440" y="4480560"/>
            <a:ext cx="54864" cy="47548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2" name="Text 35"/>
          <p:cNvSpPr/>
          <p:nvPr/>
        </p:nvSpPr>
        <p:spPr>
          <a:xfrm>
            <a:off x="4800600" y="448056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6534"/>
                </a:solidFill>
              </a:rPr>
              <a:t>✅  Workpace — 페이스·범위·동기·포트폴리오를 하나로 해결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10515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914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03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28600" y="43891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개발 목표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4160520" cy="3703320"/>
          </a:xfrm>
          <a:prstGeom prst="rect">
            <a:avLst/>
          </a:prstGeom>
          <a:solidFill>
            <a:srgbClr val="1E1B4B"/>
          </a:solidFill>
          <a:ln/>
          <a:effectLst>
            <a:outerShdw sx="100000" sy="100000" kx="0" ky="0" algn="bl" rotWithShape="0" blurRad="101600" dist="38100" dir="8100000">
              <a:srgbClr val="7C3AED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3533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78BFA"/>
                </a:solidFill>
              </a:rPr>
              <a:t>주요 목표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1920240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920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87552" y="182880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프로젝트 유형별 템플릿 자동 생성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4360" y="2505456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5054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87552" y="2414016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페이스 경고 + 심리 기반 완주 유도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4360" y="3090672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090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87552" y="2999232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스코프 잠금으로 범위 통제 구현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94360" y="3675888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675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87552" y="3584448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스트릭 + 손실 회피 동기부여 시스템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94360" y="4261104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4261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87552" y="4169664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포트폴리오 버튼 하나로 자동 생성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800600" y="11704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1B4B"/>
                </a:solidFill>
              </a:rPr>
              <a:t>세부 구현 목표</a:t>
            </a:r>
            <a:endParaRPr lang="en-US" sz="14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1700784"/>
            <a:ext cx="256032" cy="256032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5166360" y="1627632"/>
            <a:ext cx="3657600" cy="384048"/>
          </a:xfrm>
          <a:prstGeom prst="rect">
            <a:avLst/>
          </a:prstGeom>
          <a:solidFill>
            <a:srgbClr val="F8F7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5303520" y="1709928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프로젝트 CRUD 기능 구현</a:t>
            </a:r>
            <a:endParaRPr lang="en-US" sz="1200" dirty="0"/>
          </a:p>
        </p:txBody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2176272"/>
            <a:ext cx="256032" cy="256032"/>
          </a:xfrm>
          <a:prstGeom prst="rect">
            <a:avLst/>
          </a:prstGeom>
        </p:spPr>
      </p:pic>
      <p:sp>
        <p:nvSpPr>
          <p:cNvPr id="28" name="Shape 24"/>
          <p:cNvSpPr/>
          <p:nvPr/>
        </p:nvSpPr>
        <p:spPr>
          <a:xfrm>
            <a:off x="5166360" y="2103120"/>
            <a:ext cx="3657600" cy="384048"/>
          </a:xfrm>
          <a:prstGeom prst="rect">
            <a:avLst/>
          </a:prstGeom>
          <a:solidFill>
            <a:srgbClr val="F8F7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9" name="Text 25"/>
          <p:cNvSpPr/>
          <p:nvPr/>
        </p:nvSpPr>
        <p:spPr>
          <a:xfrm>
            <a:off x="5303520" y="2185416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유형별 템플릿 체크리스트 자동 생성</a:t>
            </a:r>
            <a:endParaRPr lang="en-US" sz="1200" dirty="0"/>
          </a:p>
        </p:txBody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2651760"/>
            <a:ext cx="256032" cy="256032"/>
          </a:xfrm>
          <a:prstGeom prst="rect">
            <a:avLst/>
          </a:prstGeom>
        </p:spPr>
      </p:pic>
      <p:sp>
        <p:nvSpPr>
          <p:cNvPr id="31" name="Shape 26"/>
          <p:cNvSpPr/>
          <p:nvPr/>
        </p:nvSpPr>
        <p:spPr>
          <a:xfrm>
            <a:off x="5166360" y="2578608"/>
            <a:ext cx="3657600" cy="384048"/>
          </a:xfrm>
          <a:prstGeom prst="rect">
            <a:avLst/>
          </a:prstGeom>
          <a:solidFill>
            <a:srgbClr val="F8F7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32" name="Text 27"/>
          <p:cNvSpPr/>
          <p:nvPr/>
        </p:nvSpPr>
        <p:spPr>
          <a:xfrm>
            <a:off x="5303520" y="2660904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칸반 보드 드래그앤드롭 구현</a:t>
            </a:r>
            <a:endParaRPr lang="en-US" sz="1200" dirty="0"/>
          </a:p>
        </p:txBody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3127248"/>
            <a:ext cx="256032" cy="256032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5166360" y="3054096"/>
            <a:ext cx="3657600" cy="384048"/>
          </a:xfrm>
          <a:prstGeom prst="rect">
            <a:avLst/>
          </a:prstGeom>
          <a:solidFill>
            <a:srgbClr val="F8F7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35" name="Text 29"/>
          <p:cNvSpPr/>
          <p:nvPr/>
        </p:nvSpPr>
        <p:spPr>
          <a:xfrm>
            <a:off x="5303520" y="3136392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페이스 게이지 + Windows 알림</a:t>
            </a:r>
            <a:endParaRPr lang="en-US" sz="1200" dirty="0"/>
          </a:p>
        </p:txBody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3602736"/>
            <a:ext cx="256032" cy="256032"/>
          </a:xfrm>
          <a:prstGeom prst="rect">
            <a:avLst/>
          </a:prstGeom>
        </p:spPr>
      </p:pic>
      <p:sp>
        <p:nvSpPr>
          <p:cNvPr id="37" name="Shape 30"/>
          <p:cNvSpPr/>
          <p:nvPr/>
        </p:nvSpPr>
        <p:spPr>
          <a:xfrm>
            <a:off x="5166360" y="3529584"/>
            <a:ext cx="3657600" cy="384048"/>
          </a:xfrm>
          <a:prstGeom prst="rect">
            <a:avLst/>
          </a:prstGeom>
          <a:solidFill>
            <a:srgbClr val="F8F7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38" name="Text 31"/>
          <p:cNvSpPr/>
          <p:nvPr/>
        </p:nvSpPr>
        <p:spPr>
          <a:xfrm>
            <a:off x="5303520" y="3611880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스코프 추가 시 마감 연장 시각화</a:t>
            </a:r>
            <a:endParaRPr lang="en-US" sz="1200" dirty="0"/>
          </a:p>
        </p:txBody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4078224"/>
            <a:ext cx="256032" cy="256032"/>
          </a:xfrm>
          <a:prstGeom prst="rect">
            <a:avLst/>
          </a:prstGeom>
        </p:spPr>
      </p:pic>
      <p:sp>
        <p:nvSpPr>
          <p:cNvPr id="40" name="Shape 32"/>
          <p:cNvSpPr/>
          <p:nvPr/>
        </p:nvSpPr>
        <p:spPr>
          <a:xfrm>
            <a:off x="5166360" y="4005072"/>
            <a:ext cx="3657600" cy="384048"/>
          </a:xfrm>
          <a:prstGeom prst="rect">
            <a:avLst/>
          </a:prstGeom>
          <a:solidFill>
            <a:srgbClr val="F8F7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41" name="Text 33"/>
          <p:cNvSpPr/>
          <p:nvPr/>
        </p:nvSpPr>
        <p:spPr>
          <a:xfrm>
            <a:off x="5303520" y="4087368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이슈 기록 → 트러블슈팅 자동 정리</a:t>
            </a:r>
            <a:endParaRPr lang="en-US" sz="1200" dirty="0"/>
          </a:p>
        </p:txBody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0600" y="4553712"/>
            <a:ext cx="256032" cy="256032"/>
          </a:xfrm>
          <a:prstGeom prst="rect">
            <a:avLst/>
          </a:prstGeom>
        </p:spPr>
      </p:pic>
      <p:sp>
        <p:nvSpPr>
          <p:cNvPr id="43" name="Shape 34"/>
          <p:cNvSpPr/>
          <p:nvPr/>
        </p:nvSpPr>
        <p:spPr>
          <a:xfrm>
            <a:off x="5166360" y="4480560"/>
            <a:ext cx="3657600" cy="384048"/>
          </a:xfrm>
          <a:prstGeom prst="rect">
            <a:avLst/>
          </a:prstGeom>
          <a:solidFill>
            <a:srgbClr val="F8F7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44" name="Text 35"/>
          <p:cNvSpPr/>
          <p:nvPr/>
        </p:nvSpPr>
        <p:spPr>
          <a:xfrm>
            <a:off x="5303520" y="4562856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포트폴리오 Word/PDF 내보내기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10515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914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04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28600" y="438912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개발 내용  —  핵심 기능 5가지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1517904" cy="3749040"/>
          </a:xfrm>
          <a:prstGeom prst="rect">
            <a:avLst/>
          </a:prstGeom>
          <a:solidFill>
            <a:srgbClr val="F8F7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70432"/>
            <a:ext cx="1517904" cy="7498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Shape 6"/>
          <p:cNvSpPr/>
          <p:nvPr/>
        </p:nvSpPr>
        <p:spPr>
          <a:xfrm>
            <a:off x="804672" y="1234440"/>
            <a:ext cx="457200" cy="457200"/>
          </a:xfrm>
          <a:prstGeom prst="ellipse">
            <a:avLst/>
          </a:prstGeom>
          <a:solidFill>
            <a:srgbClr val="FFFFFF">
              <a:alpha val="78000"/>
            </a:srgbClr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52728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74320" y="1956816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B4B"/>
                </a:solidFill>
              </a:rPr>
              <a:t>템플릿 시스템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65760" y="2377440"/>
            <a:ext cx="1335024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65760" y="237744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유형 선택 → 로드맵 자동 생성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65760" y="3035808"/>
            <a:ext cx="1335024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65760" y="3035808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단계별 체크리스트 제공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65760" y="3694176"/>
            <a:ext cx="1335024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365760" y="3694176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빈 화면 문제 완전 해결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993392" y="1170432"/>
            <a:ext cx="1517904" cy="3749040"/>
          </a:xfrm>
          <a:prstGeom prst="rect">
            <a:avLst/>
          </a:prstGeom>
          <a:solidFill>
            <a:srgbClr val="F8F7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1993392" y="1170432"/>
            <a:ext cx="1517904" cy="7498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9" name="Shape 16"/>
          <p:cNvSpPr/>
          <p:nvPr/>
        </p:nvSpPr>
        <p:spPr>
          <a:xfrm>
            <a:off x="2523744" y="1234440"/>
            <a:ext cx="457200" cy="457200"/>
          </a:xfrm>
          <a:prstGeom prst="ellipse">
            <a:avLst/>
          </a:prstGeom>
          <a:solidFill>
            <a:srgbClr val="FFFFFF">
              <a:alpha val="78000"/>
            </a:srgbClr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2032" y="1252728"/>
            <a:ext cx="411480" cy="4114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993392" y="1956816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B4B"/>
                </a:solidFill>
              </a:rPr>
              <a:t>페이스 경고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2084832" y="2377440"/>
            <a:ext cx="1335024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2084832" y="237744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현재 vs 목표 진행률 비교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2084832" y="3035808"/>
            <a:ext cx="1335024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5" name="Text 21"/>
          <p:cNvSpPr/>
          <p:nvPr/>
        </p:nvSpPr>
        <p:spPr>
          <a:xfrm>
            <a:off x="2084832" y="3035808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마감 초과일 자동 계산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2084832" y="3694176"/>
            <a:ext cx="1335024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7" name="Text 23"/>
          <p:cNvSpPr/>
          <p:nvPr/>
        </p:nvSpPr>
        <p:spPr>
          <a:xfrm>
            <a:off x="2084832" y="3694176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긴박감 + 손실 회피 알림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712464" y="1170432"/>
            <a:ext cx="1517904" cy="3749040"/>
          </a:xfrm>
          <a:prstGeom prst="rect">
            <a:avLst/>
          </a:prstGeom>
          <a:solidFill>
            <a:srgbClr val="F8F7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3712464" y="1170432"/>
            <a:ext cx="1517904" cy="7498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Shape 26"/>
          <p:cNvSpPr/>
          <p:nvPr/>
        </p:nvSpPr>
        <p:spPr>
          <a:xfrm>
            <a:off x="4242816" y="1234440"/>
            <a:ext cx="457200" cy="457200"/>
          </a:xfrm>
          <a:prstGeom prst="ellipse">
            <a:avLst/>
          </a:prstGeom>
          <a:solidFill>
            <a:srgbClr val="FFFFFF">
              <a:alpha val="78000"/>
            </a:srgbClr>
          </a:solidFill>
          <a:ln/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104" y="1252728"/>
            <a:ext cx="411480" cy="41148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3712464" y="1956816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B4B"/>
                </a:solidFill>
              </a:rPr>
              <a:t>스코프 잠금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3803904" y="2377440"/>
            <a:ext cx="1335024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34" name="Text 29"/>
          <p:cNvSpPr/>
          <p:nvPr/>
        </p:nvSpPr>
        <p:spPr>
          <a:xfrm>
            <a:off x="3803904" y="237744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핵심 기능 3개 고정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3803904" y="3035808"/>
            <a:ext cx="1335024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36" name="Text 31"/>
          <p:cNvSpPr/>
          <p:nvPr/>
        </p:nvSpPr>
        <p:spPr>
          <a:xfrm>
            <a:off x="3803904" y="3035808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추가 시 마감 자동 연장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3803904" y="3694176"/>
            <a:ext cx="1335024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38" name="Text 33"/>
          <p:cNvSpPr/>
          <p:nvPr/>
        </p:nvSpPr>
        <p:spPr>
          <a:xfrm>
            <a:off x="3803904" y="3694176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대가 시각화로 자기 통제</a:t>
            </a:r>
            <a:endParaRPr lang="en-US" sz="1000" dirty="0"/>
          </a:p>
        </p:txBody>
      </p:sp>
      <p:sp>
        <p:nvSpPr>
          <p:cNvPr id="39" name="Shape 34"/>
          <p:cNvSpPr/>
          <p:nvPr/>
        </p:nvSpPr>
        <p:spPr>
          <a:xfrm>
            <a:off x="5431536" y="1170432"/>
            <a:ext cx="1517904" cy="3749040"/>
          </a:xfrm>
          <a:prstGeom prst="rect">
            <a:avLst/>
          </a:prstGeom>
          <a:solidFill>
            <a:srgbClr val="F8F7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40" name="Shape 35"/>
          <p:cNvSpPr/>
          <p:nvPr/>
        </p:nvSpPr>
        <p:spPr>
          <a:xfrm>
            <a:off x="5431536" y="1170432"/>
            <a:ext cx="1517904" cy="7498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1" name="Shape 36"/>
          <p:cNvSpPr/>
          <p:nvPr/>
        </p:nvSpPr>
        <p:spPr>
          <a:xfrm>
            <a:off x="5961888" y="1234440"/>
            <a:ext cx="457200" cy="457200"/>
          </a:xfrm>
          <a:prstGeom prst="ellipse">
            <a:avLst/>
          </a:prstGeom>
          <a:solidFill>
            <a:srgbClr val="FFFFFF">
              <a:alpha val="78000"/>
            </a:srgbClr>
          </a:solidFill>
          <a:ln/>
        </p:spPr>
      </p:sp>
      <p:pic>
        <p:nvPicPr>
          <p:cNvPr id="4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176" y="1252728"/>
            <a:ext cx="411480" cy="411480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5431536" y="1956816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B4B"/>
                </a:solidFill>
              </a:rPr>
              <a:t>이슈 기록</a:t>
            </a:r>
            <a:endParaRPr lang="en-US" sz="1100" dirty="0"/>
          </a:p>
        </p:txBody>
      </p:sp>
      <p:sp>
        <p:nvSpPr>
          <p:cNvPr id="44" name="Shape 38"/>
          <p:cNvSpPr/>
          <p:nvPr/>
        </p:nvSpPr>
        <p:spPr>
          <a:xfrm>
            <a:off x="5522976" y="2377440"/>
            <a:ext cx="1335024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45" name="Text 39"/>
          <p:cNvSpPr/>
          <p:nvPr/>
        </p:nvSpPr>
        <p:spPr>
          <a:xfrm>
            <a:off x="5522976" y="237744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작업 카드 내 즉시 기록</a:t>
            </a:r>
            <a:endParaRPr lang="en-US" sz="1000" dirty="0"/>
          </a:p>
        </p:txBody>
      </p:sp>
      <p:sp>
        <p:nvSpPr>
          <p:cNvPr id="46" name="Shape 40"/>
          <p:cNvSpPr/>
          <p:nvPr/>
        </p:nvSpPr>
        <p:spPr>
          <a:xfrm>
            <a:off x="5522976" y="3035808"/>
            <a:ext cx="1335024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47" name="Text 41"/>
          <p:cNvSpPr/>
          <p:nvPr/>
        </p:nvSpPr>
        <p:spPr>
          <a:xfrm>
            <a:off x="5522976" y="3035808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문제/원인/해결 3줄 입력</a:t>
            </a:r>
            <a:endParaRPr lang="en-US" sz="1000" dirty="0"/>
          </a:p>
        </p:txBody>
      </p:sp>
      <p:sp>
        <p:nvSpPr>
          <p:cNvPr id="48" name="Shape 42"/>
          <p:cNvSpPr/>
          <p:nvPr/>
        </p:nvSpPr>
        <p:spPr>
          <a:xfrm>
            <a:off x="5522976" y="3694176"/>
            <a:ext cx="1335024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49" name="Text 43"/>
          <p:cNvSpPr/>
          <p:nvPr/>
        </p:nvSpPr>
        <p:spPr>
          <a:xfrm>
            <a:off x="5522976" y="3694176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트러블슈팅 자동 누적</a:t>
            </a:r>
            <a:endParaRPr lang="en-US" sz="1000" dirty="0"/>
          </a:p>
        </p:txBody>
      </p:sp>
      <p:sp>
        <p:nvSpPr>
          <p:cNvPr id="50" name="Shape 44"/>
          <p:cNvSpPr/>
          <p:nvPr/>
        </p:nvSpPr>
        <p:spPr>
          <a:xfrm>
            <a:off x="7150608" y="1170432"/>
            <a:ext cx="1517904" cy="3749040"/>
          </a:xfrm>
          <a:prstGeom prst="rect">
            <a:avLst/>
          </a:prstGeom>
          <a:solidFill>
            <a:srgbClr val="F8F7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51" name="Shape 45"/>
          <p:cNvSpPr/>
          <p:nvPr/>
        </p:nvSpPr>
        <p:spPr>
          <a:xfrm>
            <a:off x="7150608" y="1170432"/>
            <a:ext cx="1517904" cy="7498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2" name="Shape 46"/>
          <p:cNvSpPr/>
          <p:nvPr/>
        </p:nvSpPr>
        <p:spPr>
          <a:xfrm>
            <a:off x="7680960" y="1234440"/>
            <a:ext cx="457200" cy="457200"/>
          </a:xfrm>
          <a:prstGeom prst="ellipse">
            <a:avLst/>
          </a:prstGeom>
          <a:solidFill>
            <a:srgbClr val="FFFFFF">
              <a:alpha val="78000"/>
            </a:srgbClr>
          </a:solidFill>
          <a:ln/>
        </p:spPr>
      </p:sp>
      <p:pic>
        <p:nvPicPr>
          <p:cNvPr id="5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9248" y="1252728"/>
            <a:ext cx="411480" cy="411480"/>
          </a:xfrm>
          <a:prstGeom prst="rect">
            <a:avLst/>
          </a:prstGeom>
        </p:spPr>
      </p:pic>
      <p:sp>
        <p:nvSpPr>
          <p:cNvPr id="54" name="Text 47"/>
          <p:cNvSpPr/>
          <p:nvPr/>
        </p:nvSpPr>
        <p:spPr>
          <a:xfrm>
            <a:off x="7150608" y="1956816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B4B"/>
                </a:solidFill>
              </a:rPr>
              <a:t>포트폴리오 추출</a:t>
            </a:r>
            <a:endParaRPr lang="en-US" sz="1100" dirty="0"/>
          </a:p>
        </p:txBody>
      </p:sp>
      <p:sp>
        <p:nvSpPr>
          <p:cNvPr id="55" name="Shape 48"/>
          <p:cNvSpPr/>
          <p:nvPr/>
        </p:nvSpPr>
        <p:spPr>
          <a:xfrm>
            <a:off x="7242048" y="2377440"/>
            <a:ext cx="1335024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56" name="Text 49"/>
          <p:cNvSpPr/>
          <p:nvPr/>
        </p:nvSpPr>
        <p:spPr>
          <a:xfrm>
            <a:off x="7242048" y="237744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버튼 하나로 문서 생성</a:t>
            </a:r>
            <a:endParaRPr lang="en-US" sz="1000" dirty="0"/>
          </a:p>
        </p:txBody>
      </p:sp>
      <p:sp>
        <p:nvSpPr>
          <p:cNvPr id="57" name="Shape 50"/>
          <p:cNvSpPr/>
          <p:nvPr/>
        </p:nvSpPr>
        <p:spPr>
          <a:xfrm>
            <a:off x="7242048" y="3035808"/>
            <a:ext cx="1335024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58" name="Text 51"/>
          <p:cNvSpPr/>
          <p:nvPr/>
        </p:nvSpPr>
        <p:spPr>
          <a:xfrm>
            <a:off x="7242048" y="3035808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Word / PDF 선택</a:t>
            </a:r>
            <a:endParaRPr lang="en-US" sz="1000" dirty="0"/>
          </a:p>
        </p:txBody>
      </p:sp>
      <p:sp>
        <p:nvSpPr>
          <p:cNvPr id="59" name="Shape 52"/>
          <p:cNvSpPr/>
          <p:nvPr/>
        </p:nvSpPr>
        <p:spPr>
          <a:xfrm>
            <a:off x="7242048" y="3694176"/>
            <a:ext cx="1335024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60" name="Text 53"/>
          <p:cNvSpPr/>
          <p:nvPr/>
        </p:nvSpPr>
        <p:spPr>
          <a:xfrm>
            <a:off x="7242048" y="3694176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기술 스택 이유 + 성과 포함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10515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914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04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28600" y="438912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개발 내용  —  메인 대시보드 UI</a:t>
            </a:r>
            <a:endParaRPr lang="en-US" sz="2800" dirty="0"/>
          </a:p>
        </p:txBody>
      </p:sp>
      <p:pic>
        <p:nvPicPr>
          <p:cNvPr id="6" name="Image 0" descr="/mnt/user-data/uploads/1779978512691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170432"/>
            <a:ext cx="5760720" cy="3767328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7C3AED">
                <a:alpha val="8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6263640" y="1188720"/>
            <a:ext cx="2560320" cy="777240"/>
          </a:xfrm>
          <a:prstGeom prst="rect">
            <a:avLst/>
          </a:prstGeom>
          <a:solidFill>
            <a:srgbClr val="F8F7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263640" y="1188720"/>
            <a:ext cx="54864" cy="7772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6"/>
          <p:cNvSpPr/>
          <p:nvPr/>
        </p:nvSpPr>
        <p:spPr>
          <a:xfrm>
            <a:off x="6419088" y="126187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B4B"/>
                </a:solidFill>
              </a:rPr>
              <a:t>① 프로젝트 헤더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19088" y="153619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</a:rPr>
              <a:t>D-day + 페이스 경고</a:t>
            </a:r>
            <a:endParaRPr lang="en-US" sz="10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</a:rPr>
              <a:t>현재/목표 진행률 비교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63640" y="2121408"/>
            <a:ext cx="2560320" cy="777240"/>
          </a:xfrm>
          <a:prstGeom prst="rect">
            <a:avLst/>
          </a:prstGeom>
          <a:solidFill>
            <a:srgbClr val="F8F7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63640" y="2121408"/>
            <a:ext cx="54864" cy="777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0"/>
          <p:cNvSpPr/>
          <p:nvPr/>
        </p:nvSpPr>
        <p:spPr>
          <a:xfrm>
            <a:off x="6419088" y="219456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B4B"/>
                </a:solidFill>
              </a:rPr>
              <a:t>② 단계별 탭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19088" y="246888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</a:rPr>
              <a:t>기획/설계/개발/테스트/완료</a:t>
            </a:r>
            <a:endParaRPr lang="en-US" sz="10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</a:rPr>
              <a:t>탭 클릭으로 필터링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263640" y="3054096"/>
            <a:ext cx="2560320" cy="777240"/>
          </a:xfrm>
          <a:prstGeom prst="rect">
            <a:avLst/>
          </a:prstGeom>
          <a:solidFill>
            <a:srgbClr val="F8F7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263640" y="3054096"/>
            <a:ext cx="54864" cy="7772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7" name="Text 14"/>
          <p:cNvSpPr/>
          <p:nvPr/>
        </p:nvSpPr>
        <p:spPr>
          <a:xfrm>
            <a:off x="6419088" y="3127248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B4B"/>
                </a:solidFill>
              </a:rPr>
              <a:t>③ 칸반 보드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419088" y="340156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</a:rPr>
              <a:t>할일/진행중/완료</a:t>
            </a:r>
            <a:endParaRPr lang="en-US" sz="10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</a:rPr>
              <a:t>드래그앤드롭 이동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263640" y="3986784"/>
            <a:ext cx="2560320" cy="777240"/>
          </a:xfrm>
          <a:prstGeom prst="rect">
            <a:avLst/>
          </a:prstGeom>
          <a:solidFill>
            <a:srgbClr val="F8F7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263640" y="3986784"/>
            <a:ext cx="54864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8"/>
          <p:cNvSpPr/>
          <p:nvPr/>
        </p:nvSpPr>
        <p:spPr>
          <a:xfrm>
            <a:off x="6419088" y="405993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B4B"/>
                </a:solidFill>
              </a:rPr>
              <a:t>④ 작업 상세 패널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419088" y="433425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</a:rPr>
              <a:t>파일 연결 + 이슈 기록</a:t>
            </a:r>
            <a:endParaRPr lang="en-US" sz="10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</a:rPr>
              <a:t>포트폴리오 자동 연동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10515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914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04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28600" y="43891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개발 내용  —  이슈 기록 &amp; 포트폴리오 추출</a:t>
            </a:r>
            <a:endParaRPr lang="en-US" sz="2600" dirty="0"/>
          </a:p>
        </p:txBody>
      </p:sp>
      <p:pic>
        <p:nvPicPr>
          <p:cNvPr id="6" name="Image 0" descr="/mnt/user-data/uploads/1779982677241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170432"/>
            <a:ext cx="4160520" cy="292608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7C3AED">
                <a:alpha val="8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320040" y="4160520"/>
            <a:ext cx="4160520" cy="43891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5"/>
          <p:cNvSpPr/>
          <p:nvPr/>
        </p:nvSpPr>
        <p:spPr>
          <a:xfrm>
            <a:off x="411480" y="4160520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이슈 기록 — 문제/원인/해결 입력 시 트러블슈팅 자동 누적</a:t>
            </a:r>
            <a:endParaRPr lang="en-US" sz="1050" dirty="0"/>
          </a:p>
        </p:txBody>
      </p:sp>
      <p:pic>
        <p:nvPicPr>
          <p:cNvPr id="9" name="Image 1" descr="/mnt/user-data/uploads/1779982683224_im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170432"/>
            <a:ext cx="4160520" cy="292608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7C3AED">
                <a:alpha val="8000"/>
              </a:srgbClr>
            </a:outerShdw>
          </a:effectLst>
        </p:spPr>
      </p:pic>
      <p:sp>
        <p:nvSpPr>
          <p:cNvPr id="10" name="Shape 6"/>
          <p:cNvSpPr/>
          <p:nvPr/>
        </p:nvSpPr>
        <p:spPr>
          <a:xfrm>
            <a:off x="4663440" y="4160520"/>
            <a:ext cx="4160520" cy="43891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7"/>
          <p:cNvSpPr/>
          <p:nvPr/>
        </p:nvSpPr>
        <p:spPr>
          <a:xfrm>
            <a:off x="4754880" y="4160520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포트폴리오 추출 — 버튼 하나로 Word/PDF 자동 생성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13" name="Text 9"/>
          <p:cNvSpPr/>
          <p:nvPr/>
        </p:nvSpPr>
        <p:spPr>
          <a:xfrm>
            <a:off x="457200" y="466344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C3AED"/>
                </a:solidFill>
              </a:rPr>
              <a:t>✅ 자동 수집: 기간·작업수·스트릭·트러블슈팅·일정준수율   ✏️ 최초 1회 입력: 프로젝트명·기술스택·GitHub·개발배경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10515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914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04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28600" y="438912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개발 내용  —  통계 &amp; 설정 화면</a:t>
            </a:r>
            <a:endParaRPr lang="en-US" sz="2800" dirty="0"/>
          </a:p>
        </p:txBody>
      </p:sp>
      <p:pic>
        <p:nvPicPr>
          <p:cNvPr id="6" name="Image 0" descr="/mnt/user-data/uploads/1779982665118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170432"/>
            <a:ext cx="4160520" cy="3273552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7C3AED">
                <a:alpha val="8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320040" y="4480560"/>
            <a:ext cx="4160520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5"/>
          <p:cNvSpPr/>
          <p:nvPr/>
        </p:nvSpPr>
        <p:spPr>
          <a:xfrm>
            <a:off x="411480" y="448056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통계 — 주간 완료 작업·단계별 진행률·스트릭 히트맵</a:t>
            </a:r>
            <a:endParaRPr lang="en-US" sz="1050" dirty="0"/>
          </a:p>
        </p:txBody>
      </p:sp>
      <p:pic>
        <p:nvPicPr>
          <p:cNvPr id="9" name="Image 1" descr="/mnt/user-data/uploads/1779982672799_im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170432"/>
            <a:ext cx="4160520" cy="3273552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7C3AED">
                <a:alpha val="8000"/>
              </a:srgbClr>
            </a:outerShdw>
          </a:effectLst>
        </p:spPr>
      </p:pic>
      <p:sp>
        <p:nvSpPr>
          <p:cNvPr id="10" name="Shape 6"/>
          <p:cNvSpPr/>
          <p:nvPr/>
        </p:nvSpPr>
        <p:spPr>
          <a:xfrm>
            <a:off x="4663440" y="4480560"/>
            <a:ext cx="4160520" cy="4114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1" name="Text 7"/>
          <p:cNvSpPr/>
          <p:nvPr/>
        </p:nvSpPr>
        <p:spPr>
          <a:xfrm>
            <a:off x="4754880" y="448056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설정 — 사용자 이름·알림·테마·데이터 백업 관리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10515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914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A5E9"/>
                </a:solidFill>
              </a:rPr>
              <a:t>05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28600" y="43891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기대 효과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4069080" cy="3703320"/>
          </a:xfrm>
          <a:prstGeom prst="rect">
            <a:avLst/>
          </a:prstGeom>
          <a:solidFill>
            <a:srgbClr val="F8F7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188720"/>
            <a:ext cx="406908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344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👤  사용자 측면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810512"/>
            <a:ext cx="3794760" cy="42062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" y="181051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✓  템플릿으로 시작의 막막함 해결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322576"/>
            <a:ext cx="3794760" cy="42062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8368" y="232257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✓  페이스 유지로 마감 준수율 향상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834640"/>
            <a:ext cx="3794760" cy="42062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8368" y="283464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✓  스코프 잠금으로 완성도 높은 결과물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346704"/>
            <a:ext cx="3794760" cy="42062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" y="33467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✓  스트릭으로 꾸준한 작업 습관 형성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858768"/>
            <a:ext cx="3794760" cy="42062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8368" y="38587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✓  포트폴리오 정리 시간 대폭 단축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1188720"/>
            <a:ext cx="4069080" cy="3703320"/>
          </a:xfrm>
          <a:prstGeom prst="rect">
            <a:avLst/>
          </a:prstGeom>
          <a:solidFill>
            <a:srgbClr val="F8F7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188720"/>
            <a:ext cx="4069080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12344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⚙️  기술적 측면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00600" y="1810512"/>
            <a:ext cx="3794760" cy="42062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10328" y="181051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✓  WPF MVVM 패턴 설계 경험 습득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00600" y="2322576"/>
            <a:ext cx="3794760" cy="42062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10328" y="232257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✓  SQLite 데이터 영속성 구현 경험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00600" y="2834640"/>
            <a:ext cx="3794760" cy="42062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10328" y="283464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✓  드래그앤드롭 UI 고급 구현 기술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00600" y="3346704"/>
            <a:ext cx="3794760" cy="42062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910328" y="33467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✓  Word/PDF 문서 자동 생성 기술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00600" y="3858768"/>
            <a:ext cx="3794760" cy="42062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910328" y="38587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✓  FileSystemWatcher 실시간 감지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10515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914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06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28600" y="43891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추진 계획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38912" y="1261872"/>
            <a:ext cx="256032" cy="25603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7" name="Shape 5"/>
          <p:cNvSpPr/>
          <p:nvPr/>
        </p:nvSpPr>
        <p:spPr>
          <a:xfrm>
            <a:off x="557784" y="1517904"/>
            <a:ext cx="27432" cy="201168"/>
          </a:xfrm>
          <a:prstGeom prst="rect">
            <a:avLst/>
          </a:prstGeom>
          <a:solidFill>
            <a:srgbClr val="F3F2F8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170432"/>
            <a:ext cx="841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1주차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719072" y="1243584"/>
            <a:ext cx="804672" cy="274320"/>
          </a:xfrm>
          <a:prstGeom prst="rect">
            <a:avLst/>
          </a:prstGeom>
          <a:solidFill>
            <a:srgbClr val="7C3AED">
              <a:alpha val="1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719072" y="1243584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기획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33472" y="1225296"/>
            <a:ext cx="6144768" cy="36576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12" name="Text 10"/>
          <p:cNvSpPr/>
          <p:nvPr/>
        </p:nvSpPr>
        <p:spPr>
          <a:xfrm>
            <a:off x="2761488" y="1225296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프로젝트 기획 및 UI 설계 / DB 구조 설계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8912" y="1755648"/>
            <a:ext cx="256032" cy="256032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14" name="Shape 12"/>
          <p:cNvSpPr/>
          <p:nvPr/>
        </p:nvSpPr>
        <p:spPr>
          <a:xfrm>
            <a:off x="557784" y="2011680"/>
            <a:ext cx="27432" cy="201168"/>
          </a:xfrm>
          <a:prstGeom prst="rect">
            <a:avLst/>
          </a:prstGeom>
          <a:solidFill>
            <a:srgbClr val="F3F2F8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1664208"/>
            <a:ext cx="841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D28D9"/>
                </a:solidFill>
              </a:rPr>
              <a:t>2주차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719072" y="1737360"/>
            <a:ext cx="804672" cy="274320"/>
          </a:xfrm>
          <a:prstGeom prst="rect">
            <a:avLst/>
          </a:prstGeom>
          <a:solidFill>
            <a:srgbClr val="6D28D9">
              <a:alpha val="18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719072" y="173736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D28D9"/>
                </a:solidFill>
              </a:rPr>
              <a:t>개발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633472" y="1719072"/>
            <a:ext cx="6144768" cy="36576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19" name="Text 17"/>
          <p:cNvSpPr/>
          <p:nvPr/>
        </p:nvSpPr>
        <p:spPr>
          <a:xfrm>
            <a:off x="2761488" y="171907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프로젝트 CRUD + SQLite 연동 구현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8912" y="2249424"/>
            <a:ext cx="256032" cy="256032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21" name="Shape 19"/>
          <p:cNvSpPr/>
          <p:nvPr/>
        </p:nvSpPr>
        <p:spPr>
          <a:xfrm>
            <a:off x="557784" y="2505456"/>
            <a:ext cx="27432" cy="201168"/>
          </a:xfrm>
          <a:prstGeom prst="rect">
            <a:avLst/>
          </a:prstGeom>
          <a:solidFill>
            <a:srgbClr val="F3F2F8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2157984"/>
            <a:ext cx="841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D28D9"/>
                </a:solidFill>
              </a:rPr>
              <a:t>3주차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719072" y="2231136"/>
            <a:ext cx="804672" cy="274320"/>
          </a:xfrm>
          <a:prstGeom prst="rect">
            <a:avLst/>
          </a:prstGeom>
          <a:solidFill>
            <a:srgbClr val="6D28D9">
              <a:alpha val="18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719072" y="2231136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D28D9"/>
                </a:solidFill>
              </a:rPr>
              <a:t>개발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633472" y="2212848"/>
            <a:ext cx="6144768" cy="36576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26" name="Text 24"/>
          <p:cNvSpPr/>
          <p:nvPr/>
        </p:nvSpPr>
        <p:spPr>
          <a:xfrm>
            <a:off x="2761488" y="221284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칸반 보드 + 드래그앤드롭 + 템플릿 시스템 구현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38912" y="2743200"/>
            <a:ext cx="256032" cy="256032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8" name="Shape 26"/>
          <p:cNvSpPr/>
          <p:nvPr/>
        </p:nvSpPr>
        <p:spPr>
          <a:xfrm>
            <a:off x="557784" y="2999232"/>
            <a:ext cx="27432" cy="201168"/>
          </a:xfrm>
          <a:prstGeom prst="rect">
            <a:avLst/>
          </a:prstGeom>
          <a:solidFill>
            <a:srgbClr val="F3F2F8"/>
          </a:solidFill>
          <a:ln/>
        </p:spPr>
      </p:sp>
      <p:sp>
        <p:nvSpPr>
          <p:cNvPr id="29" name="Text 27"/>
          <p:cNvSpPr/>
          <p:nvPr/>
        </p:nvSpPr>
        <p:spPr>
          <a:xfrm>
            <a:off x="804672" y="2651760"/>
            <a:ext cx="841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4주차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719072" y="2724912"/>
            <a:ext cx="804672" cy="274320"/>
          </a:xfrm>
          <a:prstGeom prst="rect">
            <a:avLst/>
          </a:prstGeom>
          <a:solidFill>
            <a:srgbClr val="0EA5E9">
              <a:alpha val="18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719072" y="2724912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</a:rPr>
              <a:t>개발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633472" y="2706624"/>
            <a:ext cx="6144768" cy="36576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3" name="Text 31"/>
          <p:cNvSpPr/>
          <p:nvPr/>
        </p:nvSpPr>
        <p:spPr>
          <a:xfrm>
            <a:off x="2761488" y="2706624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페이스 경고 + 스코프 잠금 + Windows 알림 구현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38912" y="3236976"/>
            <a:ext cx="256032" cy="256032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5" name="Shape 33"/>
          <p:cNvSpPr/>
          <p:nvPr/>
        </p:nvSpPr>
        <p:spPr>
          <a:xfrm>
            <a:off x="557784" y="3493008"/>
            <a:ext cx="27432" cy="201168"/>
          </a:xfrm>
          <a:prstGeom prst="rect">
            <a:avLst/>
          </a:prstGeom>
          <a:solidFill>
            <a:srgbClr val="F3F2F8"/>
          </a:solidFill>
          <a:ln/>
        </p:spPr>
      </p:sp>
      <p:sp>
        <p:nvSpPr>
          <p:cNvPr id="36" name="Text 34"/>
          <p:cNvSpPr/>
          <p:nvPr/>
        </p:nvSpPr>
        <p:spPr>
          <a:xfrm>
            <a:off x="804672" y="3145536"/>
            <a:ext cx="841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5주차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719072" y="3218688"/>
            <a:ext cx="804672" cy="274320"/>
          </a:xfrm>
          <a:prstGeom prst="rect">
            <a:avLst/>
          </a:prstGeom>
          <a:solidFill>
            <a:srgbClr val="0EA5E9">
              <a:alpha val="18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1719072" y="321868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</a:rPr>
              <a:t>개발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633472" y="3200400"/>
            <a:ext cx="6144768" cy="36576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40" name="Text 38"/>
          <p:cNvSpPr/>
          <p:nvPr/>
        </p:nvSpPr>
        <p:spPr>
          <a:xfrm>
            <a:off x="2761488" y="32004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이슈 기록 + 스트릭 시스템 구현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438912" y="3730752"/>
            <a:ext cx="256032" cy="25603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2" name="Shape 40"/>
          <p:cNvSpPr/>
          <p:nvPr/>
        </p:nvSpPr>
        <p:spPr>
          <a:xfrm>
            <a:off x="557784" y="3986784"/>
            <a:ext cx="27432" cy="201168"/>
          </a:xfrm>
          <a:prstGeom prst="rect">
            <a:avLst/>
          </a:prstGeom>
          <a:solidFill>
            <a:srgbClr val="F3F2F8"/>
          </a:solidFill>
          <a:ln/>
        </p:spPr>
      </p:sp>
      <p:sp>
        <p:nvSpPr>
          <p:cNvPr id="43" name="Text 41"/>
          <p:cNvSpPr/>
          <p:nvPr/>
        </p:nvSpPr>
        <p:spPr>
          <a:xfrm>
            <a:off x="804672" y="3639312"/>
            <a:ext cx="841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6주차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719072" y="3712464"/>
            <a:ext cx="804672" cy="274320"/>
          </a:xfrm>
          <a:prstGeom prst="rect">
            <a:avLst/>
          </a:prstGeom>
          <a:solidFill>
            <a:srgbClr val="3B82F6">
              <a:alpha val="18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1719072" y="3712464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개발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633472" y="3694176"/>
            <a:ext cx="6144768" cy="36576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47" name="Text 45"/>
          <p:cNvSpPr/>
          <p:nvPr/>
        </p:nvSpPr>
        <p:spPr>
          <a:xfrm>
            <a:off x="2761488" y="3694176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포트폴리오 자동 생성 (Word/PDF 내보내기) 구현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438912" y="4224528"/>
            <a:ext cx="256032" cy="25603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9" name="Shape 47"/>
          <p:cNvSpPr/>
          <p:nvPr/>
        </p:nvSpPr>
        <p:spPr>
          <a:xfrm>
            <a:off x="557784" y="4480560"/>
            <a:ext cx="27432" cy="201168"/>
          </a:xfrm>
          <a:prstGeom prst="rect">
            <a:avLst/>
          </a:prstGeom>
          <a:solidFill>
            <a:srgbClr val="F3F2F8"/>
          </a:solidFill>
          <a:ln/>
        </p:spPr>
      </p:sp>
      <p:sp>
        <p:nvSpPr>
          <p:cNvPr id="50" name="Text 48"/>
          <p:cNvSpPr/>
          <p:nvPr/>
        </p:nvSpPr>
        <p:spPr>
          <a:xfrm>
            <a:off x="804672" y="4133088"/>
            <a:ext cx="841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7주차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1719072" y="4206240"/>
            <a:ext cx="804672" cy="274320"/>
          </a:xfrm>
          <a:prstGeom prst="rect">
            <a:avLst/>
          </a:prstGeom>
          <a:solidFill>
            <a:srgbClr val="F59E0B">
              <a:alpha val="18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1719072" y="420624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마무리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633472" y="4187952"/>
            <a:ext cx="6144768" cy="36576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54" name="Text 52"/>
          <p:cNvSpPr/>
          <p:nvPr/>
        </p:nvSpPr>
        <p:spPr>
          <a:xfrm>
            <a:off x="2761488" y="418795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UI 개선 및 통합 테스트 / 오류 수정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438912" y="4718304"/>
            <a:ext cx="256032" cy="25603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6" name="Text 54"/>
          <p:cNvSpPr/>
          <p:nvPr/>
        </p:nvSpPr>
        <p:spPr>
          <a:xfrm>
            <a:off x="804672" y="4626864"/>
            <a:ext cx="841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8주차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1719072" y="4700016"/>
            <a:ext cx="804672" cy="274320"/>
          </a:xfrm>
          <a:prstGeom prst="rect">
            <a:avLst/>
          </a:prstGeom>
          <a:solidFill>
            <a:srgbClr val="10B981">
              <a:alpha val="18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1719072" y="4700016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마무리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2633472" y="4681728"/>
            <a:ext cx="6144768" cy="36576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60" name="Text 58"/>
          <p:cNvSpPr/>
          <p:nvPr/>
        </p:nvSpPr>
        <p:spPr>
          <a:xfrm>
            <a:off x="2761488" y="468172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발표 자료 제작 및 최종 점검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9070848" y="0"/>
            <a:ext cx="73152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  참고 자료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3977640" cy="310896"/>
          </a:xfrm>
          <a:prstGeom prst="rect">
            <a:avLst/>
          </a:prstGeom>
          <a:solidFill>
            <a:srgbClr val="7C3AED">
              <a:alpha val="2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7899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공식 문서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3977640" cy="38404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463040"/>
            <a:ext cx="54864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[1]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14630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Microsoft WPF 공식 문서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816352" y="146304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8BFA"/>
                </a:solidFill>
              </a:rPr>
              <a:t>docs.microsoft.com/dotnet/desktop/wpf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920240"/>
            <a:ext cx="3977640" cy="38404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1920240"/>
            <a:ext cx="54864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[2]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60120" y="19202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SQLite 공식 문서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816352" y="192024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8BFA"/>
                </a:solidFill>
              </a:rPr>
              <a:t>sqlite.org/docs.html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377440"/>
            <a:ext cx="3977640" cy="38404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2377440"/>
            <a:ext cx="54864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[3]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60120" y="23774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MVVM 디자인 패턴 가이드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816352" y="237744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8BFA"/>
                </a:solidFill>
              </a:rPr>
              <a:t>docs.microsoft.com/dotnet/architecture/maui/mvvm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1078992"/>
            <a:ext cx="3977640" cy="310896"/>
          </a:xfrm>
          <a:prstGeom prst="rect">
            <a:avLst/>
          </a:prstGeom>
          <a:solidFill>
            <a:srgbClr val="0EA5E9">
              <a:alpha val="28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107899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UI 레퍼런스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1463040"/>
            <a:ext cx="3977640" cy="38404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754880" y="1463040"/>
            <a:ext cx="54864" cy="38404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6" name="Text 24"/>
          <p:cNvSpPr/>
          <p:nvPr/>
        </p:nvSpPr>
        <p:spPr>
          <a:xfrm>
            <a:off x="4864608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A5E9"/>
                </a:solidFill>
              </a:rPr>
              <a:t>[4]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257800" y="14630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Material Design WPF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114032" y="146304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8BFA"/>
                </a:solidFill>
              </a:rPr>
              <a:t>github.com/MaterialDesignInXAML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1920240"/>
            <a:ext cx="3977640" cy="38404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754880" y="1920240"/>
            <a:ext cx="54864" cy="38404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1" name="Text 29"/>
          <p:cNvSpPr/>
          <p:nvPr/>
        </p:nvSpPr>
        <p:spPr>
          <a:xfrm>
            <a:off x="4864608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A5E9"/>
                </a:solidFill>
              </a:rPr>
              <a:t>[5]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257800" y="19202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WPF MVVM Tutorial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114032" y="192024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8BFA"/>
                </a:solidFill>
              </a:rPr>
              <a:t>wpf-tutorial.com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2377440"/>
            <a:ext cx="3977640" cy="38404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754880" y="2377440"/>
            <a:ext cx="54864" cy="38404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6" name="Text 34"/>
          <p:cNvSpPr/>
          <p:nvPr/>
        </p:nvSpPr>
        <p:spPr>
          <a:xfrm>
            <a:off x="4864608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A5E9"/>
                </a:solidFill>
              </a:rPr>
              <a:t>[6]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257800" y="23774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GitHub WPF 오픈소스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114032" y="237744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8BFA"/>
                </a:solidFill>
              </a:rPr>
              <a:t>github.com/topics/wpf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7200" y="2953512"/>
            <a:ext cx="3977640" cy="310896"/>
          </a:xfrm>
          <a:prstGeom prst="rect">
            <a:avLst/>
          </a:prstGeom>
          <a:solidFill>
            <a:srgbClr val="F59E0B">
              <a:alpha val="28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548640" y="295351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유사 서비스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57200" y="3337560"/>
            <a:ext cx="3977640" cy="38404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57200" y="3337560"/>
            <a:ext cx="54864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3" name="Text 41"/>
          <p:cNvSpPr/>
          <p:nvPr/>
        </p:nvSpPr>
        <p:spPr>
          <a:xfrm>
            <a:off x="566928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[7]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960120" y="33375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Notion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816352" y="333756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8BFA"/>
                </a:solidFill>
              </a:rPr>
              <a:t>notion.so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57200" y="3794760"/>
            <a:ext cx="3977640" cy="38404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57200" y="3794760"/>
            <a:ext cx="54864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8" name="Text 46"/>
          <p:cNvSpPr/>
          <p:nvPr/>
        </p:nvSpPr>
        <p:spPr>
          <a:xfrm>
            <a:off x="566928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[8]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960120" y="37947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Linear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2816352" y="379476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8BFA"/>
                </a:solidFill>
              </a:rPr>
              <a:t>linear.app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57200" y="4251960"/>
            <a:ext cx="3977640" cy="38404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457200" y="4251960"/>
            <a:ext cx="54864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3" name="Text 51"/>
          <p:cNvSpPr/>
          <p:nvPr/>
        </p:nvSpPr>
        <p:spPr>
          <a:xfrm>
            <a:off x="566928" y="4251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[9]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960120" y="42519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Trello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2816352" y="425196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8BFA"/>
                </a:solidFill>
              </a:rPr>
              <a:t>trello.com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754880" y="2953512"/>
            <a:ext cx="3977640" cy="310896"/>
          </a:xfrm>
          <a:prstGeom prst="rect">
            <a:avLst/>
          </a:prstGeom>
          <a:solidFill>
            <a:srgbClr val="10B981">
              <a:alpha val="28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4846320" y="295351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추진 배경 근거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4754880" y="3337560"/>
            <a:ext cx="3977640" cy="38404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4754880" y="3337560"/>
            <a:ext cx="54864" cy="3840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0" name="Text 58"/>
          <p:cNvSpPr/>
          <p:nvPr/>
        </p:nvSpPr>
        <p:spPr>
          <a:xfrm>
            <a:off x="4864608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[10]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5257800" y="33375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프로젝트 관리 통계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7114032" y="333756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8BFA"/>
                </a:solidFill>
              </a:rPr>
              <a:t>asana.com/ko/resources/project-management-statistics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754880" y="3794760"/>
            <a:ext cx="3977640" cy="38404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4754880" y="3794760"/>
            <a:ext cx="54864" cy="3840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5" name="Text 63"/>
          <p:cNvSpPr/>
          <p:nvPr/>
        </p:nvSpPr>
        <p:spPr>
          <a:xfrm>
            <a:off x="4864608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[11]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5257800" y="37947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포트폴리오 구성 가이드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7114032" y="379476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8BFA"/>
                </a:solidFill>
              </a:rPr>
              <a:t>careerfoundry.com/en/blog/ux-design/ux-portfolio-guide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754880" y="4251960"/>
            <a:ext cx="3977640" cy="38404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4754880" y="4251960"/>
            <a:ext cx="54864" cy="3840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0" name="Text 68"/>
          <p:cNvSpPr/>
          <p:nvPr/>
        </p:nvSpPr>
        <p:spPr>
          <a:xfrm>
            <a:off x="4864608" y="4251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[12]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5257800" y="42519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Duolingo 스트릭 심리 연구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7114032" y="425196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8BFA"/>
                </a:solidFill>
              </a:rPr>
              <a:t>blog.duolingo.com/streak-research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457200" y="4709160"/>
            <a:ext cx="8229600" cy="32918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4" name="Text 72"/>
          <p:cNvSpPr/>
          <p:nvPr/>
        </p:nvSpPr>
        <p:spPr>
          <a:xfrm>
            <a:off x="457200" y="47274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Workpace  —  프로젝트를 시작부터 포트폴리오까지, 혼자서도 완주하도록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2026-05-29T00:19:09Z</dcterms:created>
  <dcterms:modified xsi:type="dcterms:W3CDTF">2026-05-29T00:19:09Z</dcterms:modified>
</cp:coreProperties>
</file>