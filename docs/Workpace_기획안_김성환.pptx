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70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5143500" cy="9144000"/>
  <p:embeddedFontLst>
    <p:embeddedFont>
      <p:font typeface="Pretendard" panose="02000503000000020004" pitchFamily="50" charset="-127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B4B"/>
    <a:srgbClr val="F8F7FF"/>
    <a:srgbClr val="374151"/>
    <a:srgbClr val="7C3AED"/>
    <a:srgbClr val="CCBC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799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11" Type="http://schemas.openxmlformats.org/officeDocument/2006/relationships/image" Target="../media/image6.png"/><Relationship Id="rId5" Type="http://schemas.openxmlformats.org/officeDocument/2006/relationships/image" Target="../media/image22.png"/><Relationship Id="rId10" Type="http://schemas.openxmlformats.org/officeDocument/2006/relationships/image" Target="../media/image5.svg"/><Relationship Id="rId4" Type="http://schemas.openxmlformats.org/officeDocument/2006/relationships/image" Target="../media/image21.sv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duolingo.com/duolingo-streak-research/" TargetMode="External"/><Relationship Id="rId3" Type="http://schemas.openxmlformats.org/officeDocument/2006/relationships/hyperlink" Target="https://www.pmi.org/learning/library/causes-project-failure-survey-engineers-4814?utm_source=chatgpt.com" TargetMode="External"/><Relationship Id="rId7" Type="http://schemas.openxmlformats.org/officeDocument/2006/relationships/hyperlink" Target="http://www.proprofsproject.com/blog/project-management-statistics/" TargetMode="External"/><Relationship Id="rId2" Type="http://schemas.openxmlformats.org/officeDocument/2006/relationships/hyperlink" Target="https://trello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mi.org/-/media/pmi/documents/public/pdf/learning/thought-leadership/pulse/pmi_pulse_2021.pdf?sc_lang_temp=en&amp;v=b5c9abc1-e9ff-4ac5-bb0d-010ea8f664da&amp;utm_source=chatgpt.com" TargetMode="External"/><Relationship Id="rId5" Type="http://schemas.openxmlformats.org/officeDocument/2006/relationships/hyperlink" Target="https://opencommons.org/CHAOS_Report_on_IT_Project_Outcomes" TargetMode="External"/><Relationship Id="rId4" Type="http://schemas.openxmlformats.org/officeDocument/2006/relationships/hyperlink" Target="https://www.pmi.org/learning/library/scope-creep-rising-113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4" name="Shape 2"/>
          <p:cNvSpPr/>
          <p:nvPr/>
        </p:nvSpPr>
        <p:spPr>
          <a:xfrm>
            <a:off x="1971675" y="1679283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267" y="1834731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77515" y="1633563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Workpace</a:t>
            </a:r>
            <a:endParaRPr lang="en-US" sz="4600" dirty="0">
              <a:solidFill>
                <a:srgbClr val="1E1B4B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2977515" y="2331933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WPF 기반 개인 프로젝트 완주 + 포트폴리오 자동 생성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 flipV="1">
            <a:off x="2977515" y="2683827"/>
            <a:ext cx="3137535" cy="45719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7" name="Text 34"/>
          <p:cNvSpPr/>
          <p:nvPr/>
        </p:nvSpPr>
        <p:spPr>
          <a:xfrm>
            <a:off x="2977515" y="3003984"/>
            <a:ext cx="251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컴퓨터공학과(하이테크)  2602340044  김성환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  차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Workpace 프로젝트 기획 발표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19" y="1463040"/>
            <a:ext cx="3921441" cy="71323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864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591056"/>
            <a:ext cx="347472" cy="347472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24712" y="15544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과제 개요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24712" y="18470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소개 및 앱 정체성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11077" y="1463040"/>
            <a:ext cx="3921443" cy="71323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1077" y="1463040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975669" y="1591056"/>
            <a:ext cx="347472" cy="347472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75669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32869" y="155448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추진 배경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32869" y="184708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혼자 하는 프로젝트의 5가지 문제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3921442" cy="71323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37744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" y="2505456"/>
            <a:ext cx="347472" cy="347472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24712" y="2468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목표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24712" y="27614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 목표 및 세부 기능 목표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11077" y="2377440"/>
            <a:ext cx="3921443" cy="71323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1077" y="237744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4975669" y="2505456"/>
            <a:ext cx="347472" cy="347472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75669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32869" y="246888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내용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32869" y="276148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5가지 핵심 기능 및 UI 화면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2919" y="3291840"/>
            <a:ext cx="3921443" cy="71323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291840"/>
            <a:ext cx="54864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" y="3419856"/>
            <a:ext cx="347472" cy="347472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24712" y="3383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기대 효과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24712" y="36758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및 기술적 기대 효과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11077" y="3291840"/>
            <a:ext cx="3921443" cy="71323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11077" y="3291840"/>
            <a:ext cx="54864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4975669" y="3419856"/>
            <a:ext cx="347472" cy="347472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975669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32869" y="338328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추진 계획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32869" y="367588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8주차 개발 일정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02920" y="4206240"/>
            <a:ext cx="8229600" cy="71323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2920" y="4206240"/>
            <a:ext cx="54864" cy="7132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4334256"/>
            <a:ext cx="347472" cy="347472"/>
          </a:xfrm>
          <a:prstGeom prst="ellipse">
            <a:avLst/>
          </a:prstGeom>
          <a:solidFill>
            <a:srgbClr val="6B7280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24712" y="4297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참고 자료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24712" y="459028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 문서 및 출처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과제 개요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1" y="1207008"/>
            <a:ext cx="3508058" cy="208483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353312"/>
            <a:ext cx="40860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소개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4086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Workpace는 혼자 프로젝트를 </a:t>
            </a:r>
            <a:r>
              <a:rPr lang="en-US" sz="1300" dirty="0" err="1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진행하는</a:t>
            </a:r>
            <a:r>
              <a:rPr lang="en-US" sz="13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사람이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끝까지</a:t>
            </a:r>
            <a:r>
              <a:rPr lang="en-US" sz="13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완주하도록</a:t>
            </a:r>
            <a:r>
              <a:rPr lang="en-US" sz="13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페이스를</a:t>
            </a:r>
            <a:r>
              <a:rPr lang="en-US" sz="13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잡아주고</a:t>
            </a:r>
            <a:r>
              <a:rPr lang="en-US" sz="13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완료</a:t>
            </a:r>
            <a:r>
              <a:rPr lang="en-US" sz="13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포트폴리오까지 자동 생성되는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WPF 기반 </a:t>
            </a:r>
            <a:r>
              <a:rPr lang="en-US" sz="1300" dirty="0" err="1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데스크톱</a:t>
            </a:r>
            <a:r>
              <a:rPr lang="en-US" sz="13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앱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1" y="3401568"/>
            <a:ext cx="3508058" cy="108813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" name="Text 9"/>
          <p:cNvSpPr/>
          <p:nvPr/>
        </p:nvSpPr>
        <p:spPr>
          <a:xfrm>
            <a:off x="598170" y="3863340"/>
            <a:ext cx="40822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</a:pPr>
            <a:r>
              <a:rPr lang="en-US" sz="1150" dirty="0" err="1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앱을</a:t>
            </a:r>
            <a:r>
              <a:rPr lang="en-US" sz="1150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50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사용할 때마다 자동 기록</a:t>
            </a:r>
            <a:endParaRPr lang="en-US" altLang="ko-KR" sz="1150" dirty="0">
              <a:solidFill>
                <a:srgbClr val="7C3AE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buAutoNum type="arabicPeriod"/>
            </a:pPr>
            <a:r>
              <a:rPr lang="ko-KR" altLang="en-US" sz="1150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별도 </a:t>
            </a:r>
            <a:r>
              <a:rPr lang="en-US" sz="1150" dirty="0" err="1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정리</a:t>
            </a:r>
            <a:r>
              <a:rPr lang="en-US" sz="1150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50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없이</a:t>
            </a:r>
            <a:r>
              <a:rPr lang="en-US" sz="1150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150" dirty="0" err="1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</a:t>
            </a:r>
            <a:r>
              <a:rPr lang="en-US" sz="1150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50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완성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1207008"/>
            <a:ext cx="1051560" cy="16916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72000" y="1755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페이스 경고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17720" y="208483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진행률 vs </a:t>
            </a:r>
            <a:r>
              <a:rPr lang="en-US" sz="9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목표</a:t>
            </a:r>
            <a:endParaRPr lang="en-US" sz="950" dirty="0">
              <a:solidFill>
                <a:srgbClr val="6B728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</a:t>
            </a:r>
            <a:r>
              <a:rPr lang="en-US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비교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742432" y="1202245"/>
            <a:ext cx="1051560" cy="16916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742432" y="1755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스코프 잠금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788152" y="208483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</a:t>
            </a:r>
            <a:r>
              <a:rPr lang="en-US" sz="9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범위</a:t>
            </a:r>
            <a:r>
              <a:rPr lang="en-US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확장</a:t>
            </a:r>
            <a:r>
              <a:rPr lang="en-US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방지</a:t>
            </a:r>
            <a:r>
              <a:rPr lang="en-US" altLang="ko-KR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lang="en-US" sz="9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대가</a:t>
            </a:r>
            <a:r>
              <a:rPr lang="en-US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시각화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912864" y="1207008"/>
            <a:ext cx="1051560" cy="16916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6912864" y="1755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 추출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6958584" y="208483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버튼</a:t>
            </a:r>
            <a:r>
              <a:rPr lang="en-US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하나로</a:t>
            </a:r>
            <a:endParaRPr lang="en-US" sz="950" dirty="0">
              <a:solidFill>
                <a:srgbClr val="6B728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</a:t>
            </a:r>
            <a:r>
              <a:rPr lang="en-US" sz="9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생성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4572000" y="3017520"/>
            <a:ext cx="3392424" cy="1572768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470916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환경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4709160" y="3493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언어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589788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C#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4709160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프레임워크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589788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WPF (.NET)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4709160" y="4005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589788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SQLite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4709160" y="4261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아키텍처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589788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MVVM Pattern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4C9C309D-CA7D-1D7D-FBE9-99F167075388}"/>
              </a:ext>
            </a:extLst>
          </p:cNvPr>
          <p:cNvSpPr/>
          <p:nvPr/>
        </p:nvSpPr>
        <p:spPr>
          <a:xfrm>
            <a:off x="594360" y="3548829"/>
            <a:ext cx="40860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포인트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8D05D257-BF91-383E-AEE4-D81C6E541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9963" y="1282372"/>
            <a:ext cx="477362" cy="477362"/>
          </a:xfrm>
          <a:prstGeom prst="rect">
            <a:avLst/>
          </a:prstGeom>
        </p:spPr>
      </p:pic>
      <p:pic>
        <p:nvPicPr>
          <p:cNvPr id="63" name="그래픽 62">
            <a:extLst>
              <a:ext uri="{FF2B5EF4-FFF2-40B4-BE49-F238E27FC236}">
                <a16:creationId xmlns:a16="http://schemas.microsoft.com/office/drawing/2014/main" id="{7F50A6A7-6AC4-8845-3473-980B1AEB9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8883" y="1282372"/>
            <a:ext cx="474419" cy="474419"/>
          </a:xfrm>
          <a:prstGeom prst="rect">
            <a:avLst/>
          </a:prstGeom>
        </p:spPr>
      </p:pic>
      <p:pic>
        <p:nvPicPr>
          <p:cNvPr id="65" name="그래픽 64">
            <a:extLst>
              <a:ext uri="{FF2B5EF4-FFF2-40B4-BE49-F238E27FC236}">
                <a16:creationId xmlns:a16="http://schemas.microsoft.com/office/drawing/2014/main" id="{2E3D2EBB-25D6-5A14-22B0-9B10DB237E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9100" y="1284604"/>
            <a:ext cx="477361" cy="4773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추진 배경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508760" cy="270205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" y="1938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데드라인 착시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11480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마감이 멀게 느껴져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초기 계획을 느슨하게 잡음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039112" y="1188720"/>
            <a:ext cx="1508760" cy="270205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039112" y="1938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범위 통제 실패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130552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 추가하다가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마감일을 넘기는 경험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758184" y="1188720"/>
            <a:ext cx="1508760" cy="270205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758184" y="1938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동기부여 저하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3849624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혼자라 오늘 안 해도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된다는 안일함 발생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477256" y="1188720"/>
            <a:ext cx="1508760" cy="270205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5477256" y="1938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방향성 상실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5568696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중간에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산으로 가는 경험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7196328" y="1188720"/>
            <a:ext cx="1508760" cy="2702052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7196328" y="1938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 누락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7287768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기껏 완성해도 기록이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없어서 정리가 힘듦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320040" y="4137651"/>
            <a:ext cx="4160520" cy="47548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8" name="Shape 31"/>
          <p:cNvSpPr/>
          <p:nvPr/>
        </p:nvSpPr>
        <p:spPr>
          <a:xfrm>
            <a:off x="320040" y="4137651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2"/>
          <p:cNvSpPr/>
          <p:nvPr/>
        </p:nvSpPr>
        <p:spPr>
          <a:xfrm>
            <a:off x="457199" y="4137651"/>
            <a:ext cx="3902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❌  </a:t>
            </a:r>
            <a:r>
              <a:rPr lang="en-US" sz="1100" dirty="0" err="1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r>
              <a:rPr lang="en-US" sz="1100" dirty="0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dirty="0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관리 </a:t>
            </a:r>
            <a:r>
              <a:rPr lang="en-US" sz="1100" dirty="0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툴 (Trello) — </a:t>
            </a:r>
            <a:r>
              <a:rPr lang="en-US" sz="1100" dirty="0" err="1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</a:t>
            </a:r>
            <a:r>
              <a:rPr lang="en-US" sz="1100" dirty="0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기능은 </a:t>
            </a:r>
            <a:r>
              <a:rPr lang="en-US" sz="1100" dirty="0" err="1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있으나</a:t>
            </a:r>
            <a:r>
              <a:rPr lang="en-US" sz="1100" dirty="0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100" dirty="0" err="1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완주를</a:t>
            </a:r>
            <a:r>
              <a:rPr lang="en-US" sz="1100" dirty="0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dirty="0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도와주지 </a:t>
            </a:r>
            <a:r>
              <a:rPr lang="en-US" sz="1100" dirty="0" err="1">
                <a:solidFill>
                  <a:srgbClr val="991B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않음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33"/>
          <p:cNvSpPr/>
          <p:nvPr/>
        </p:nvSpPr>
        <p:spPr>
          <a:xfrm>
            <a:off x="4663440" y="4137651"/>
            <a:ext cx="4041648" cy="47548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1" name="Shape 34"/>
          <p:cNvSpPr/>
          <p:nvPr/>
        </p:nvSpPr>
        <p:spPr>
          <a:xfrm>
            <a:off x="4663440" y="4137651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35"/>
          <p:cNvSpPr/>
          <p:nvPr/>
        </p:nvSpPr>
        <p:spPr>
          <a:xfrm>
            <a:off x="4800600" y="4137651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653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✅  Workpace — 페이스·범위·동기·포트폴리오를 하나로 해결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A9467478-B0E7-E666-B074-F28E2BF77E5C}"/>
              </a:ext>
            </a:extLst>
          </p:cNvPr>
          <p:cNvSpPr/>
          <p:nvPr/>
        </p:nvSpPr>
        <p:spPr>
          <a:xfrm>
            <a:off x="320040" y="4695426"/>
            <a:ext cx="32707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</a:t>
            </a:r>
            <a:r>
              <a:rPr lang="ko-KR" alt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</a:t>
            </a:r>
            <a:r>
              <a:rPr lang="en-US" altLang="ko-KR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1] Trello : </a:t>
            </a:r>
            <a:r>
              <a:rPr lang="ko-KR" alt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칸반</a:t>
            </a:r>
            <a:r>
              <a:rPr lang="en-US" altLang="ko-KR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(Kanban) </a:t>
            </a:r>
            <a:r>
              <a:rPr lang="ko-KR" alt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 방식 기반 프로젝트 관리 도구</a:t>
            </a:r>
            <a:endParaRPr lang="en-US" sz="900" dirty="0"/>
          </a:p>
        </p:txBody>
      </p:sp>
      <p:pic>
        <p:nvPicPr>
          <p:cNvPr id="52" name="그래픽 51">
            <a:extLst>
              <a:ext uri="{FF2B5EF4-FFF2-40B4-BE49-F238E27FC236}">
                <a16:creationId xmlns:a16="http://schemas.microsoft.com/office/drawing/2014/main" id="{DECB089B-B005-C74F-4C08-DA468C559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4811" y="1306655"/>
            <a:ext cx="477361" cy="477361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3CACE654-5E30-E396-C2D6-D2D6060FA5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3883" y="1306655"/>
            <a:ext cx="477361" cy="477361"/>
          </a:xfrm>
          <a:prstGeom prst="rect">
            <a:avLst/>
          </a:prstGeom>
        </p:spPr>
      </p:pic>
      <p:pic>
        <p:nvPicPr>
          <p:cNvPr id="57" name="그래픽 56">
            <a:extLst>
              <a:ext uri="{FF2B5EF4-FFF2-40B4-BE49-F238E27FC236}">
                <a16:creationId xmlns:a16="http://schemas.microsoft.com/office/drawing/2014/main" id="{7C678ADE-CC8A-4390-941D-7FEBC365D6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92955" y="1311608"/>
            <a:ext cx="477362" cy="477362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ACF95AF1-6BDD-01D9-5FAA-4285D39A1F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12027" y="1306655"/>
            <a:ext cx="477362" cy="477362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A5C1880-DB23-E853-BC51-3C7360418F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5739" y="1311609"/>
            <a:ext cx="477361" cy="477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그룹 47">
            <a:extLst>
              <a:ext uri="{FF2B5EF4-FFF2-40B4-BE49-F238E27FC236}">
                <a16:creationId xmlns:a16="http://schemas.microsoft.com/office/drawing/2014/main" id="{9BCD45F4-AE25-A708-9676-AC58CA9D597E}"/>
              </a:ext>
            </a:extLst>
          </p:cNvPr>
          <p:cNvGrpSpPr/>
          <p:nvPr/>
        </p:nvGrpSpPr>
        <p:grpSpPr>
          <a:xfrm>
            <a:off x="3155722" y="3207819"/>
            <a:ext cx="2651760" cy="1417320"/>
            <a:chOff x="3163293" y="1208582"/>
            <a:chExt cx="2651760" cy="1417320"/>
          </a:xfrm>
        </p:grpSpPr>
        <p:sp>
          <p:nvSpPr>
            <p:cNvPr id="8" name="Shape 6"/>
            <p:cNvSpPr/>
            <p:nvPr/>
          </p:nvSpPr>
          <p:spPr>
            <a:xfrm>
              <a:off x="3163293" y="1208582"/>
              <a:ext cx="2651760" cy="1417320"/>
            </a:xfrm>
            <a:prstGeom prst="rect">
              <a:avLst/>
            </a:prstGeom>
            <a:solidFill>
              <a:srgbClr val="F8F7FF"/>
            </a:solidFill>
            <a:ln/>
            <a:effectLst>
              <a:outerShdw blurRad="101600" dist="38100" dir="8100000" algn="bl" rotWithShape="0">
                <a:srgbClr val="7C3AED">
                  <a:alpha val="7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163293" y="1208582"/>
              <a:ext cx="2651760" cy="54864"/>
            </a:xfrm>
            <a:prstGeom prst="rect">
              <a:avLst/>
            </a:prstGeom>
            <a:solidFill>
              <a:srgbClr val="EF4444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163293" y="1327454"/>
              <a:ext cx="26517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EF444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31%</a:t>
              </a:r>
              <a:endParaRPr lang="en-US" sz="3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254733" y="1967534"/>
              <a:ext cx="24688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ko-KR" altLang="en-US" sz="1100" dirty="0">
                  <a:solidFill>
                    <a:srgbClr val="37415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성공적으로 프로젝트 완료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254733" y="2424734"/>
              <a:ext cx="2468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[</a:t>
              </a:r>
              <a:r>
                <a:rPr lang="ko-KR" altLang="en-US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문서 </a:t>
              </a:r>
              <a:r>
                <a:rPr lang="en-US" altLang="ko-KR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4] </a:t>
              </a:r>
              <a:r>
                <a:rPr lang="en-US" sz="9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Standish Group CHAOS Report, 2020</a:t>
              </a:r>
              <a:endParaRPr lang="en-US" sz="9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286526" y="3203247"/>
            <a:ext cx="2651760" cy="1417320"/>
          </a:xfrm>
          <a:prstGeom prst="rect">
            <a:avLst/>
          </a:prstGeom>
          <a:solidFill>
            <a:srgbClr val="F8F7FF"/>
          </a:solidFill>
          <a:ln/>
          <a:effectLst>
            <a:outerShdw blurRad="101600" dist="38100" dir="8100000" algn="bl" rotWithShape="0">
              <a:srgbClr val="7C3AED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6526" y="3203247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286526" y="3322119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77966" y="3962199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프로젝트에서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확장(Scope Creep) 발생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7966" y="4419399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</a:t>
            </a:r>
            <a:r>
              <a:rPr lang="ko-KR" alt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</a:t>
            </a:r>
            <a:r>
              <a:rPr lang="en-US" altLang="ko-KR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3] 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PMI Pulse of the Profession 2018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15276" y="1490472"/>
            <a:ext cx="2651760" cy="1298448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715276" y="1490472"/>
            <a:ext cx="54864" cy="12984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1879868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실패 원인 1위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79868" y="19110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1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프로젝트가 시작 단계에서 충분히 정의되지 않음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9868" y="2423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</a:t>
            </a: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2]</a:t>
            </a: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Project Management Institute (PMI)</a:t>
            </a:r>
            <a:endParaRPr lang="en-US" sz="950" dirty="0"/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C4B3F5AD-EEC3-D598-FD0C-005792851841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B72C9DCF-1F20-1184-3272-D46191965359}"/>
              </a:ext>
            </a:extLst>
          </p:cNvPr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37589555-6C24-EE01-4DF2-6752400BAF06}"/>
              </a:ext>
            </a:extLst>
          </p:cNvPr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3E6B62F9-FFFB-0C42-480A-3F213CF28A2F}"/>
              </a:ext>
            </a:extLst>
          </p:cNvPr>
          <p:cNvSpPr/>
          <p:nvPr/>
        </p:nvSpPr>
        <p:spPr>
          <a:xfrm>
            <a:off x="228600" y="438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추진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배경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00" b="1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r>
              <a:rPr lang="en-US" altLang="ko-KR" sz="2800" b="1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800" b="1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통계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1A9933A-D2B8-E99C-D67F-EA3B861D6BFA}"/>
              </a:ext>
            </a:extLst>
          </p:cNvPr>
          <p:cNvGrpSpPr/>
          <p:nvPr/>
        </p:nvGrpSpPr>
        <p:grpSpPr>
          <a:xfrm>
            <a:off x="6024918" y="1970561"/>
            <a:ext cx="2788393" cy="2676099"/>
            <a:chOff x="6008140" y="2500814"/>
            <a:chExt cx="2788393" cy="2676099"/>
          </a:xfrm>
        </p:grpSpPr>
        <p:sp>
          <p:nvSpPr>
            <p:cNvPr id="32" name="Text 30"/>
            <p:cNvSpPr/>
            <p:nvPr/>
          </p:nvSpPr>
          <p:spPr>
            <a:xfrm>
              <a:off x="6008140" y="4917105"/>
              <a:ext cx="2377440" cy="25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altLang="ko-KR" sz="8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[</a:t>
              </a:r>
              <a:r>
                <a:rPr lang="ko-KR" altLang="en-US" sz="8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그래프 </a:t>
              </a:r>
              <a:r>
                <a:rPr lang="en-US" altLang="ko-KR" sz="8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1] </a:t>
              </a:r>
              <a:r>
                <a:rPr lang="ko-KR" altLang="en-US" sz="8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프로젝트의 </a:t>
              </a:r>
              <a:r>
                <a:rPr lang="en-US" altLang="ko-KR" sz="8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55%</a:t>
              </a:r>
              <a:r>
                <a:rPr lang="ko-KR" altLang="en-US" sz="8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만이 계획된 일정 내에 완료됨</a:t>
              </a:r>
              <a:r>
                <a:rPr lang="en-US" altLang="ko-KR" sz="800" dirty="0">
                  <a:solidFill>
                    <a:srgbClr val="6B728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, PMI Pulse of the Profession 2021</a:t>
              </a:r>
              <a:endParaRPr lang="en-US" sz="800" dirty="0"/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193F6822-2D19-7C7D-AE45-302AF5E81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8140" y="2500814"/>
              <a:ext cx="2788393" cy="2368481"/>
            </a:xfrm>
            <a:prstGeom prst="rect">
              <a:avLst/>
            </a:prstGeom>
            <a:effectLst>
              <a:outerShdw blurRad="101600" algn="ctr" rotWithShape="0">
                <a:prstClr val="black">
                  <a:alpha val="20000"/>
                </a:prstClr>
              </a:outerShdw>
            </a:effectLst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목표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160520" cy="3703320"/>
          </a:xfrm>
          <a:prstGeom prst="rect">
            <a:avLst/>
          </a:prstGeom>
          <a:solidFill>
            <a:srgbClr val="1E1B4B"/>
          </a:solidFill>
          <a:ln/>
          <a:effectLst>
            <a:outerShdw blurRad="101600" dist="38100" dir="8100000" algn="bl" rotWithShape="0">
              <a:srgbClr val="7C3AE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53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 목표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7552" y="18288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유형별 템플릿 자동 생성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" y="250545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7552" y="24140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페이스 경고 + 심리 기반 완주 유도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09067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7552" y="299923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스코프 잠금으로 범위 통제 구현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3675888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7552" y="35844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스트릭 + 손실 회피 동기부여 시스템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4261104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41696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 버튼 하나로 자동 생성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세부 구현 목표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700784"/>
            <a:ext cx="256032" cy="25603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166360" y="1627632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303520" y="170992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CRUD 기능 구현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176272"/>
            <a:ext cx="256032" cy="256032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166360" y="2103120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5303520" y="218541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유형별 템플릿 체크리스트 자동 생성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651760"/>
            <a:ext cx="256032" cy="25603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166360" y="2578608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5303520" y="266090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칸반 보드 드래그앤드롭 구현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127248"/>
            <a:ext cx="256032" cy="25603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166360" y="3054096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5303520" y="31363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페이스 게이지 + Windows 알림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602736"/>
            <a:ext cx="256032" cy="25603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5166360" y="3529584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5303520" y="36118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스코프 추가 시 마감 연장 시각화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078224"/>
            <a:ext cx="256032" cy="256032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5166360" y="4005072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5303520" y="408736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이슈 기록 → 트러블슈팅 자동 정리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53712"/>
            <a:ext cx="256032" cy="256032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5166360" y="4480560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4" name="Text 35"/>
          <p:cNvSpPr/>
          <p:nvPr/>
        </p:nvSpPr>
        <p:spPr>
          <a:xfrm>
            <a:off x="5303520" y="456285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 Word/PDF 내보내기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내용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</a:t>
            </a: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기능 5가지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517904" cy="37490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" y="19568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템플릿 시스템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2377440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 선택 → 로드맵 자동 생성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5760" y="3035808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5760" y="3035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단계별 체크리스트 제공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65760" y="3694176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5760" y="369417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빈 화면 문제 완전 해결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993392" y="1170432"/>
            <a:ext cx="1517904" cy="37490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1993392" y="19568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페이스 경고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2084832" y="2377440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2084832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vs 목표 진행률 비교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2084832" y="3035808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2084832" y="3035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마감 초과일 자동 계산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2084832" y="3694176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2084832" y="369417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긴박감 + 손실 회피 알림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3712464" y="1170432"/>
            <a:ext cx="1517904" cy="37490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3712464" y="19568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스코프 잠금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3803904" y="2377440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3803904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기능 3개 고정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3803904" y="3035808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3803904" y="3035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추가 시 마감 자동 연장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3803904" y="3694176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Text 33"/>
          <p:cNvSpPr/>
          <p:nvPr/>
        </p:nvSpPr>
        <p:spPr>
          <a:xfrm>
            <a:off x="3803904" y="369417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대가 시각화로 자기 통제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5431536" y="1170432"/>
            <a:ext cx="1517904" cy="37490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5431536" y="19568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이슈 기록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38"/>
          <p:cNvSpPr/>
          <p:nvPr/>
        </p:nvSpPr>
        <p:spPr>
          <a:xfrm>
            <a:off x="5522976" y="2377440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5" name="Text 39"/>
          <p:cNvSpPr/>
          <p:nvPr/>
        </p:nvSpPr>
        <p:spPr>
          <a:xfrm>
            <a:off x="5522976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작업 카드 내 즉시 기록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Shape 40"/>
          <p:cNvSpPr/>
          <p:nvPr/>
        </p:nvSpPr>
        <p:spPr>
          <a:xfrm>
            <a:off x="5522976" y="3035808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Text 41"/>
          <p:cNvSpPr/>
          <p:nvPr/>
        </p:nvSpPr>
        <p:spPr>
          <a:xfrm>
            <a:off x="5522976" y="3035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문제/원인/해결 3줄 입력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2"/>
          <p:cNvSpPr/>
          <p:nvPr/>
        </p:nvSpPr>
        <p:spPr>
          <a:xfrm>
            <a:off x="5522976" y="3694176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9" name="Text 43"/>
          <p:cNvSpPr/>
          <p:nvPr/>
        </p:nvSpPr>
        <p:spPr>
          <a:xfrm>
            <a:off x="5522976" y="369417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트러블슈팅 자동 누적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Shape 44"/>
          <p:cNvSpPr/>
          <p:nvPr/>
        </p:nvSpPr>
        <p:spPr>
          <a:xfrm>
            <a:off x="7150608" y="1170432"/>
            <a:ext cx="1517904" cy="37490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4" name="Text 47"/>
          <p:cNvSpPr/>
          <p:nvPr/>
        </p:nvSpPr>
        <p:spPr>
          <a:xfrm>
            <a:off x="7150608" y="19568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 추출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Shape 48"/>
          <p:cNvSpPr/>
          <p:nvPr/>
        </p:nvSpPr>
        <p:spPr>
          <a:xfrm>
            <a:off x="7242048" y="2377440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6" name="Text 49"/>
          <p:cNvSpPr/>
          <p:nvPr/>
        </p:nvSpPr>
        <p:spPr>
          <a:xfrm>
            <a:off x="7242048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버튼 하나로 문서 생성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Shape 50"/>
          <p:cNvSpPr/>
          <p:nvPr/>
        </p:nvSpPr>
        <p:spPr>
          <a:xfrm>
            <a:off x="7242048" y="3035808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8" name="Text 51"/>
          <p:cNvSpPr/>
          <p:nvPr/>
        </p:nvSpPr>
        <p:spPr>
          <a:xfrm>
            <a:off x="7242048" y="3035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Word / PDF 선택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Shape 52"/>
          <p:cNvSpPr/>
          <p:nvPr/>
        </p:nvSpPr>
        <p:spPr>
          <a:xfrm>
            <a:off x="7242048" y="3694176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0" name="Text 53"/>
          <p:cNvSpPr/>
          <p:nvPr/>
        </p:nvSpPr>
        <p:spPr>
          <a:xfrm>
            <a:off x="7242048" y="369417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 스택 이유 + 성과 포함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1" name="그래픽 60">
            <a:extLst>
              <a:ext uri="{FF2B5EF4-FFF2-40B4-BE49-F238E27FC236}">
                <a16:creationId xmlns:a16="http://schemas.microsoft.com/office/drawing/2014/main" id="{A1C06C3E-115D-C8A7-2721-7BD20246E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591" y="1305718"/>
            <a:ext cx="477362" cy="477362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D7413086-EE01-65DA-1E95-ED9704DF9C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1807" y="1305718"/>
            <a:ext cx="477362" cy="477362"/>
          </a:xfrm>
          <a:prstGeom prst="rect">
            <a:avLst/>
          </a:prstGeom>
        </p:spPr>
      </p:pic>
      <p:pic>
        <p:nvPicPr>
          <p:cNvPr id="63" name="그래픽 62">
            <a:extLst>
              <a:ext uri="{FF2B5EF4-FFF2-40B4-BE49-F238E27FC236}">
                <a16:creationId xmlns:a16="http://schemas.microsoft.com/office/drawing/2014/main" id="{D0AA5A0D-2086-CE41-547C-1037EDC180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0879" y="1305719"/>
            <a:ext cx="477362" cy="477362"/>
          </a:xfrm>
          <a:prstGeom prst="rect">
            <a:avLst/>
          </a:prstGeom>
        </p:spPr>
      </p:pic>
      <p:pic>
        <p:nvPicPr>
          <p:cNvPr id="64" name="그래픽 63">
            <a:extLst>
              <a:ext uri="{FF2B5EF4-FFF2-40B4-BE49-F238E27FC236}">
                <a16:creationId xmlns:a16="http://schemas.microsoft.com/office/drawing/2014/main" id="{99966B07-9553-4BD6-9BE8-8857687546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34206" y="1305719"/>
            <a:ext cx="474419" cy="474419"/>
          </a:xfrm>
          <a:prstGeom prst="rect">
            <a:avLst/>
          </a:prstGeom>
        </p:spPr>
      </p:pic>
      <p:pic>
        <p:nvPicPr>
          <p:cNvPr id="65" name="그래픽 64">
            <a:extLst>
              <a:ext uri="{FF2B5EF4-FFF2-40B4-BE49-F238E27FC236}">
                <a16:creationId xmlns:a16="http://schemas.microsoft.com/office/drawing/2014/main" id="{8530762D-6A75-D2A1-9EDF-3015E40E72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13663" y="1305719"/>
            <a:ext cx="477361" cy="4773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내용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</a:t>
            </a: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UI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" name="Image 0" descr="/mnt/user-data/uploads/177997851269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5760720" cy="3767328"/>
          </a:xfrm>
          <a:prstGeom prst="rect">
            <a:avLst/>
          </a:prstGeom>
          <a:effectLst>
            <a:outerShdw blurRad="101600" dist="38100" dir="8100000" algn="bl" rotWithShape="0">
              <a:srgbClr val="7C3AED">
                <a:alpha val="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6263640" y="1188720"/>
            <a:ext cx="2560320" cy="7772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63640" y="118872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6419088" y="12618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 프로젝트 헤더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19088" y="1536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D-day + 페이스 경고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현재/목표 진행률 비교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63640" y="2121408"/>
            <a:ext cx="2560320" cy="7772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2121408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6419088" y="21945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 단계별 탭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19088" y="2468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기획/설계/개발/테스트/완료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탭 클릭으로 필터링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63640" y="3054096"/>
            <a:ext cx="2560320" cy="7772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63640" y="3054096"/>
            <a:ext cx="54864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6419088" y="31272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 칸반 보드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19088" y="3401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할일/진행중/완료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드래그앤드롭 이동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63640" y="3986784"/>
            <a:ext cx="2560320" cy="77724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63640" y="3986784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6419088" y="405993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④ 작업 상세 패널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19088" y="43342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연결 + 이슈 기록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추후 </a:t>
            </a:r>
            <a:r>
              <a:rPr lang="en-US" sz="10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</a:t>
            </a:r>
            <a:r>
              <a:rPr lang="ko-KR" alt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</a:t>
            </a: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연동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" name="Image 0" descr="/mnt/user-data/uploads/177998267724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4160520" cy="2926080"/>
          </a:xfrm>
          <a:prstGeom prst="rect">
            <a:avLst/>
          </a:prstGeom>
          <a:effectLst>
            <a:outerShdw blurRad="101600" dist="38100" dir="8100000" algn="bl" rotWithShape="0">
              <a:srgbClr val="7C3AED">
                <a:alpha val="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20040" y="4160520"/>
            <a:ext cx="416052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41605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이슈 기록 — 문제/원인/</a:t>
            </a:r>
            <a:r>
              <a:rPr lang="en-US" sz="105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해결</a:t>
            </a:r>
            <a:r>
              <a:rPr lang="en-US" sz="10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</a:t>
            </a:r>
            <a:r>
              <a:rPr lang="ko-KR" altLang="en-US" sz="10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</a:t>
            </a:r>
            <a:r>
              <a:rPr lang="en-US" sz="10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트러블슈팅</a:t>
            </a:r>
            <a:r>
              <a:rPr lang="en-US" sz="10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기록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1" descr="/mnt/user-data/uploads/177998268322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70432"/>
            <a:ext cx="4160520" cy="2926080"/>
          </a:xfrm>
          <a:prstGeom prst="rect">
            <a:avLst/>
          </a:prstGeom>
          <a:effectLst>
            <a:outerShdw blurRad="101600" dist="38100" dir="8100000" algn="bl" rotWithShape="0">
              <a:srgbClr val="7C3AED">
                <a:alpha val="8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4663440" y="4160520"/>
            <a:ext cx="416052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41605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 추출 — 버튼 하나로 Word/PDF 자동 생성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CADC3F8-AE60-495C-C345-2C12E1CFA5D1}"/>
              </a:ext>
            </a:extLst>
          </p:cNvPr>
          <p:cNvSpPr/>
          <p:nvPr/>
        </p:nvSpPr>
        <p:spPr>
          <a:xfrm>
            <a:off x="228600" y="4389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내용 </a:t>
            </a:r>
            <a:r>
              <a:rPr lang="en-US" altLang="ko-KR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이슈 기록 </a:t>
            </a:r>
            <a:r>
              <a:rPr lang="en-US" altLang="ko-KR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 </a:t>
            </a:r>
            <a:r>
              <a:rPr lang="ko-KR" alt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 추출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내용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</a:t>
            </a:r>
            <a:r>
              <a:rPr lang="en-US" sz="2800" b="1" dirty="0" err="1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&amp; 설정 화면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" name="Image 0" descr="/mnt/user-data/uploads/177998266511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4160520" cy="3273552"/>
          </a:xfrm>
          <a:prstGeom prst="rect">
            <a:avLst/>
          </a:prstGeom>
          <a:effectLst>
            <a:outerShdw blurRad="101600" dist="38100" dir="8100000" algn="bl" rotWithShape="0">
              <a:srgbClr val="7C3AED">
                <a:alpha val="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20040" y="4480560"/>
            <a:ext cx="41605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4480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— 주간 완료 작업·단계별 진행률·스트릭 히트맵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1" descr="/mnt/user-data/uploads/1779982672799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70432"/>
            <a:ext cx="4160520" cy="3273552"/>
          </a:xfrm>
          <a:prstGeom prst="rect">
            <a:avLst/>
          </a:prstGeom>
          <a:effectLst>
            <a:outerShdw blurRad="101600" dist="38100" dir="8100000" algn="bl" rotWithShape="0">
              <a:srgbClr val="7C3AED">
                <a:alpha val="8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4663440" y="4480560"/>
            <a:ext cx="41605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4480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설정 — 사용자 이름·알림·테마·데이터 백업 관리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기대 효과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069080" cy="370332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40690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👤  사용자 측면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8105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 템플릿으로 시작의 막막함 해결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23225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 페이스 유지로 마감 준수율 향상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28346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 스코프 잠금으로 완성도 높은 결과물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346704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3467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 스트릭으로 꾸준한 작업 습관 형성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8587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 포트폴리오 정리 시간 대폭 단축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4069080" cy="3703320"/>
          </a:xfrm>
          <a:prstGeom prst="rect">
            <a:avLst/>
          </a:prstGeom>
          <a:solidFill>
            <a:srgbClr val="F8F7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88720"/>
            <a:ext cx="40690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⚙️  기술적 측면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00600" y="1810512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0328" y="18105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 WPF MVVM 패턴 설계 경험 습득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0600" y="2322576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0328" y="23225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 SQLite 데이터 영속성 구현 경험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00600" y="2834640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10328" y="28346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 드래그앤드롭 UI 고급 구현 기술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00600" y="3346704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10328" y="33467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 Word/PDF 문서 자동 생성 기술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00600" y="3858768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0328" y="38587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✓  FileSystemWatcher 실시간 감지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추진 계획</a:t>
            </a:r>
            <a:endParaRPr lang="en-US" sz="2800" dirty="0">
              <a:solidFill>
                <a:srgbClr val="1E1B4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8912" y="126187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557784" y="1517904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17043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1주차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719072" y="1243584"/>
            <a:ext cx="804672" cy="274320"/>
          </a:xfrm>
          <a:prstGeom prst="rect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19072" y="12435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</a:t>
            </a:r>
            <a:r>
              <a:rPr lang="en-US" sz="1000" b="1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000" b="1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33472" y="1225296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61488" y="122529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기획 및 UI 설계 / DB 구조 설계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912" y="1755648"/>
            <a:ext cx="256032" cy="25603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" y="2011680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166420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28D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2주차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719072" y="1737360"/>
            <a:ext cx="804672" cy="274320"/>
          </a:xfrm>
          <a:prstGeom prst="rect">
            <a:avLst/>
          </a:prstGeom>
          <a:solidFill>
            <a:srgbClr val="6D28D9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719072" y="17373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633472" y="1719072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61488" y="1719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CRUD + SQLite 연동 구현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" y="2249424"/>
            <a:ext cx="256032" cy="25603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2505456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215798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28D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3주차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719072" y="2231136"/>
            <a:ext cx="804672" cy="274320"/>
          </a:xfrm>
          <a:prstGeom prst="rect">
            <a:avLst/>
          </a:prstGeom>
          <a:solidFill>
            <a:srgbClr val="6D28D9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719072" y="2231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33472" y="2212848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61488" y="22128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칸반 보드 + 드래그앤드롭 + 템플릿 시스템 구현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38912" y="2743200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Shape 26"/>
          <p:cNvSpPr/>
          <p:nvPr/>
        </p:nvSpPr>
        <p:spPr>
          <a:xfrm>
            <a:off x="557784" y="2999232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265176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A5E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4주차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719072" y="2724912"/>
            <a:ext cx="804672" cy="274320"/>
          </a:xfrm>
          <a:prstGeom prst="rect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719072" y="27249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633472" y="2706624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3" name="Text 31"/>
          <p:cNvSpPr/>
          <p:nvPr/>
        </p:nvSpPr>
        <p:spPr>
          <a:xfrm>
            <a:off x="2761488" y="27066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페이스 경고 + 스코프 잠금 + Windows 알림 구현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8912" y="323697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5" name="Shape 33"/>
          <p:cNvSpPr/>
          <p:nvPr/>
        </p:nvSpPr>
        <p:spPr>
          <a:xfrm>
            <a:off x="557784" y="3493008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3145536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A5E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5주차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719072" y="3218688"/>
            <a:ext cx="804672" cy="274320"/>
          </a:xfrm>
          <a:prstGeom prst="rect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719072" y="321868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633472" y="3200400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40" name="Text 38"/>
          <p:cNvSpPr/>
          <p:nvPr/>
        </p:nvSpPr>
        <p:spPr>
          <a:xfrm>
            <a:off x="2761488" y="3200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이슈 기록 + 스트릭 시스템 구현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38912" y="3730752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2" name="Shape 40"/>
          <p:cNvSpPr/>
          <p:nvPr/>
        </p:nvSpPr>
        <p:spPr>
          <a:xfrm>
            <a:off x="557784" y="3986784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363931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6주차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719072" y="3712464"/>
            <a:ext cx="804672" cy="274320"/>
          </a:xfrm>
          <a:prstGeom prst="rect">
            <a:avLst/>
          </a:prstGeom>
          <a:solidFill>
            <a:srgbClr val="3B82F6">
              <a:alpha val="1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719072" y="37124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633472" y="3694176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47" name="Text 45"/>
          <p:cNvSpPr/>
          <p:nvPr/>
        </p:nvSpPr>
        <p:spPr>
          <a:xfrm>
            <a:off x="2761488" y="369417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 자동 생성 (Word/PDF 내보내기) 구현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38912" y="422452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557784" y="4480560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50" name="Text 48"/>
          <p:cNvSpPr/>
          <p:nvPr/>
        </p:nvSpPr>
        <p:spPr>
          <a:xfrm>
            <a:off x="804672" y="413308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7주차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719072" y="4206240"/>
            <a:ext cx="804672" cy="274320"/>
          </a:xfrm>
          <a:prstGeom prst="rect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719072" y="42062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테스트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633472" y="4187952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54" name="Text 52"/>
          <p:cNvSpPr/>
          <p:nvPr/>
        </p:nvSpPr>
        <p:spPr>
          <a:xfrm>
            <a:off x="2761488" y="41879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개선 및 통합 테스트 / 오류 수정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38912" y="471830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804672" y="462686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8주차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719072" y="4700016"/>
            <a:ext cx="804672" cy="274320"/>
          </a:xfrm>
          <a:prstGeom prst="rect">
            <a:avLst/>
          </a:prstGeom>
          <a:solidFill>
            <a:srgbClr val="10B981">
              <a:alpha val="1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719072" y="470001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0B98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완료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2633472" y="4681728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60" name="Text 58"/>
          <p:cNvSpPr/>
          <p:nvPr/>
        </p:nvSpPr>
        <p:spPr>
          <a:xfrm>
            <a:off x="2761488" y="46817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발표 자료 제작 및 최종 점검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>
            <a:extLst>
              <a:ext uri="{FF2B5EF4-FFF2-40B4-BE49-F238E27FC236}">
                <a16:creationId xmlns:a16="http://schemas.microsoft.com/office/drawing/2014/main" id="{377708EE-3B65-D033-C899-7B44BEC962FF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145" name="Shape 1">
            <a:extLst>
              <a:ext uri="{FF2B5EF4-FFF2-40B4-BE49-F238E27FC236}">
                <a16:creationId xmlns:a16="http://schemas.microsoft.com/office/drawing/2014/main" id="{79505477-594E-2FA4-76C2-27D9D13E765A}"/>
              </a:ext>
            </a:extLst>
          </p:cNvPr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6" name="Text 2">
            <a:extLst>
              <a:ext uri="{FF2B5EF4-FFF2-40B4-BE49-F238E27FC236}">
                <a16:creationId xmlns:a16="http://schemas.microsoft.com/office/drawing/2014/main" id="{12D047FA-FFF9-1970-D2BF-7FD9E099D929}"/>
              </a:ext>
            </a:extLst>
          </p:cNvPr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</a:t>
            </a:r>
            <a:endParaRPr lang="en-US" sz="1300" dirty="0">
              <a:solidFill>
                <a:srgbClr val="7C3AE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7" name="Text 3">
            <a:extLst>
              <a:ext uri="{FF2B5EF4-FFF2-40B4-BE49-F238E27FC236}">
                <a16:creationId xmlns:a16="http://schemas.microsoft.com/office/drawing/2014/main" id="{317EE927-BC92-F56B-E12E-80A5F1FA460D}"/>
              </a:ext>
            </a:extLst>
          </p:cNvPr>
          <p:cNvSpPr/>
          <p:nvPr/>
        </p:nvSpPr>
        <p:spPr>
          <a:xfrm>
            <a:off x="228600" y="438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참고</a:t>
            </a:r>
            <a:r>
              <a:rPr 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800" b="1" dirty="0">
                <a:solidFill>
                  <a:srgbClr val="1E1B4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자료</a:t>
            </a:r>
            <a:endParaRPr lang="en-US" sz="2800" dirty="0">
              <a:solidFill>
                <a:srgbClr val="1E1B4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5144D86-7FFD-57E2-1EB4-840A0E78F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876682"/>
              </p:ext>
            </p:extLst>
          </p:nvPr>
        </p:nvGraphicFramePr>
        <p:xfrm>
          <a:off x="749037" y="1490472"/>
          <a:ext cx="7645926" cy="3164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173">
                  <a:extLst>
                    <a:ext uri="{9D8B030D-6E8A-4147-A177-3AD203B41FA5}">
                      <a16:colId xmlns:a16="http://schemas.microsoft.com/office/drawing/2014/main" val="2530097155"/>
                    </a:ext>
                  </a:extLst>
                </a:gridCol>
                <a:gridCol w="2822120">
                  <a:extLst>
                    <a:ext uri="{9D8B030D-6E8A-4147-A177-3AD203B41FA5}">
                      <a16:colId xmlns:a16="http://schemas.microsoft.com/office/drawing/2014/main" val="875582135"/>
                    </a:ext>
                  </a:extLst>
                </a:gridCol>
                <a:gridCol w="3928633">
                  <a:extLst>
                    <a:ext uri="{9D8B030D-6E8A-4147-A177-3AD203B41FA5}">
                      <a16:colId xmlns:a16="http://schemas.microsoft.com/office/drawing/2014/main" val="198151000"/>
                    </a:ext>
                  </a:extLst>
                </a:gridCol>
              </a:tblGrid>
              <a:tr h="345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내용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출처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997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문서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ko-KR" altLang="en-US" sz="1100" dirty="0">
                        <a:solidFill>
                          <a:srgbClr val="37415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Trello </a:t>
                      </a: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비교 대상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sng" dirty="0">
                          <a:solidFill>
                            <a:srgbClr val="7C3AE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https://trello.com/</a:t>
                      </a:r>
                      <a:endParaRPr lang="en-US" altLang="ko-KR" sz="1100" dirty="0">
                        <a:solidFill>
                          <a:srgbClr val="7C3AED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881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문서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ko-KR" altLang="en-US" sz="1100" dirty="0">
                        <a:solidFill>
                          <a:srgbClr val="37415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프로젝트 실패 원인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 관련 자료</a:t>
                      </a:r>
                      <a:endParaRPr lang="en-US" altLang="ko-KR" sz="1100" dirty="0">
                        <a:solidFill>
                          <a:srgbClr val="37415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7C3AE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https://www.pmi.org/learning/library/causes-project-failure-survey-engineers-4814?utm_source=chatgpt.com</a:t>
                      </a:r>
                      <a:endParaRPr lang="en-US" altLang="ko-KR" sz="1100" dirty="0">
                        <a:solidFill>
                          <a:srgbClr val="7C3AED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4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문서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ko-KR" altLang="en-US" sz="1100" dirty="0">
                        <a:solidFill>
                          <a:srgbClr val="37415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스코프</a:t>
                      </a: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크리프</a:t>
                      </a: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52% </a:t>
                      </a: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발생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(PMI Pulse of the Profession)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sng" dirty="0">
                          <a:solidFill>
                            <a:srgbClr val="7C3AE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https://www.pmi.org/learning/library/scope-creep-rising-11308</a:t>
                      </a:r>
                      <a:endParaRPr lang="en-US" altLang="ko-KR" sz="1100" dirty="0">
                        <a:solidFill>
                          <a:srgbClr val="7C3AED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86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문서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ko-KR" altLang="en-US" sz="1100" dirty="0">
                        <a:solidFill>
                          <a:srgbClr val="37415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성공적으로 프로젝트 완료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31% </a:t>
                      </a: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sng" dirty="0">
                          <a:solidFill>
                            <a:srgbClr val="7C3AE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https://opencommons.org/CHAOS_Report_on_IT_Project_Outcomes</a:t>
                      </a:r>
                      <a:endParaRPr lang="en-US" altLang="ko-KR" sz="1100" dirty="0">
                        <a:solidFill>
                          <a:srgbClr val="7C3AED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977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그래프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ko-KR" altLang="en-US" sz="1100" dirty="0">
                        <a:solidFill>
                          <a:srgbClr val="37415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계획된 일정 내 프로젝트 완료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55% </a:t>
                      </a: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그래프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solidFill>
                            <a:srgbClr val="7C3AE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pmi_pulse_2021.pdf</a:t>
                      </a:r>
                      <a:endParaRPr lang="ko-KR" altLang="en-US" sz="1100" dirty="0">
                        <a:solidFill>
                          <a:srgbClr val="7C3AED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1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문헌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프로젝트 관리 통계 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2024 (</a:t>
                      </a:r>
                      <a:r>
                        <a:rPr lang="en-US" altLang="ko-KR" sz="1100" dirty="0" err="1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ProProfs</a:t>
                      </a: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sng" dirty="0">
                          <a:solidFill>
                            <a:srgbClr val="7C3AE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www.proprofsproject.com/blog/project-management-statistics/</a:t>
                      </a:r>
                      <a:endParaRPr lang="en-US" altLang="ko-KR" sz="1100" dirty="0">
                        <a:solidFill>
                          <a:srgbClr val="7C3AED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085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참고 문헌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Duolingo </a:t>
                      </a:r>
                      <a:r>
                        <a:rPr lang="ko-KR" altLang="en-US" sz="1100" dirty="0" err="1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스트릭</a:t>
                      </a:r>
                      <a:r>
                        <a:rPr lang="ko-KR" altLang="en-US" sz="1100" dirty="0">
                          <a:solidFill>
                            <a:srgbClr val="37415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심리 효과 연구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sng" dirty="0">
                          <a:solidFill>
                            <a:srgbClr val="7C3AE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blog.duolingo.com/</a:t>
                      </a:r>
                      <a:r>
                        <a:rPr lang="en-US" altLang="ko-KR" sz="1100" u="sng" dirty="0" err="1">
                          <a:solidFill>
                            <a:srgbClr val="7C3AE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duolingo</a:t>
                      </a:r>
                      <a:r>
                        <a:rPr lang="en-US" altLang="ko-KR" sz="1100" u="sng" dirty="0">
                          <a:solidFill>
                            <a:srgbClr val="7C3AE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-streak-research/</a:t>
                      </a:r>
                      <a:endParaRPr lang="en-US" altLang="ko-KR" sz="1100" dirty="0">
                        <a:solidFill>
                          <a:srgbClr val="7C3AED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073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97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931</Words>
  <Application>Microsoft Office PowerPoint</Application>
  <PresentationFormat>화면 슬라이드 쇼(16:9)</PresentationFormat>
  <Paragraphs>229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김진솔</cp:lastModifiedBy>
  <cp:revision>111</cp:revision>
  <dcterms:created xsi:type="dcterms:W3CDTF">2026-05-29T00:19:09Z</dcterms:created>
  <dcterms:modified xsi:type="dcterms:W3CDTF">2026-05-31T06:50:39Z</dcterms:modified>
</cp:coreProperties>
</file>